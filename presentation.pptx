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2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Hero render - villa with solar array" descr="image.png"/>
          <p:cNvPicPr>
            <a:picLocks noChangeAspect="1"/>
          </p:cNvPicPr>
          <p:nvPr/>
        </p:nvPicPr>
        <p:blipFill>
          <a:blip r:embed="rId2"/>
          <a:srcRect t="12260" b="26970"/>
          <a:stretch>
            <a:fillRect/>
          </a:stretch>
        </p:blipFill>
        <p:spPr>
          <a:xfrm>
            <a:off x="5842000" y="0"/>
            <a:ext cx="6350000" cy="6858000"/>
          </a:xfrm>
          <a:prstGeom prst="rect">
            <a:avLst/>
          </a:prstGeom>
        </p:spPr>
      </p:pic>
      <p:pic>
        <p:nvPicPr>
          <p:cNvPr id="4" name="Almuhib Solar Energy logo" descr="logo_a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431800"/>
            <a:ext cx="1270000" cy="1021080"/>
          </a:xfrm>
          <a:prstGeom prst="rect">
            <a:avLst/>
          </a:prstGeom>
        </p:spPr>
      </p:pic>
      <p:sp>
        <p:nvSpPr>
          <p:cNvPr id="5" name="Accent dash"/>
          <p:cNvSpPr/>
          <p:nvPr/>
        </p:nvSpPr>
        <p:spPr>
          <a:xfrm>
            <a:off x="711200" y="2978150"/>
            <a:ext cx="373380" cy="5334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F9D66"/>
              </a:gs>
              <a:gs pos="100000">
                <a:srgbClr val="6FE39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yebrow - reference"/>
          <p:cNvSpPr txBox="1"/>
          <p:nvPr/>
        </p:nvSpPr>
        <p:spPr>
          <a:xfrm>
            <a:off x="1244600" y="2833846"/>
            <a:ext cx="5080000" cy="331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spc="261">
                <a:solidFill>
                  <a:srgbClr val="A3ABAA"/>
                </a:solidFill>
                <a:latin typeface="Arial"/>
              </a:rPr>
              <a:t>SOLAR PROPOSAL · NFX-[0000-0000]</a:t>
            </a:r>
          </a:p>
        </p:txBody>
      </p:sp>
      <p:sp>
        <p:nvSpPr>
          <p:cNvPr id="7" name="Headline"/>
          <p:cNvSpPr txBox="1"/>
          <p:nvPr/>
        </p:nvSpPr>
        <p:spPr>
          <a:xfrm>
            <a:off x="711200" y="3380740"/>
            <a:ext cx="58420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5360"/>
              </a:lnSpc>
            </a:pPr>
            <a:r>
              <a:rPr sz="5250" b="0" spc="-158">
                <a:solidFill>
                  <a:srgbClr val="FFFFFF"/>
                </a:solidFill>
                <a:latin typeface="Arial Black"/>
              </a:rPr>
              <a:t>Power your villa</a:t>
            </a:r>
          </a:p>
          <a:p>
            <a:pPr algn="l">
              <a:lnSpc>
                <a:spcPts val="5360"/>
              </a:lnSpc>
            </a:pPr>
            <a:r>
              <a:rPr sz="5250" b="0" spc="-158">
                <a:solidFill>
                  <a:srgbClr val="FFFFFF"/>
                </a:solidFill>
                <a:latin typeface="Arial Black"/>
              </a:rPr>
              <a:t>with solar</a:t>
            </a:r>
          </a:p>
        </p:txBody>
      </p:sp>
      <p:sp>
        <p:nvSpPr>
          <p:cNvPr id="8" name="Label - prepared for"/>
          <p:cNvSpPr txBox="1"/>
          <p:nvPr/>
        </p:nvSpPr>
        <p:spPr>
          <a:xfrm>
            <a:off x="711200" y="5155406"/>
            <a:ext cx="2794000" cy="331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spc="261">
                <a:solidFill>
                  <a:srgbClr val="859290"/>
                </a:solidFill>
                <a:latin typeface="Arial"/>
              </a:rPr>
              <a:t>PREPARED FOR</a:t>
            </a:r>
          </a:p>
        </p:txBody>
      </p:sp>
      <p:sp>
        <p:nvSpPr>
          <p:cNvPr id="9" name="Client name"/>
          <p:cNvSpPr txBox="1"/>
          <p:nvPr/>
        </p:nvSpPr>
        <p:spPr>
          <a:xfrm>
            <a:off x="711200" y="5428932"/>
            <a:ext cx="2794000" cy="434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Mr Ahmed</a:t>
            </a:r>
          </a:p>
        </p:txBody>
      </p:sp>
      <p:sp>
        <p:nvSpPr>
          <p:cNvPr id="10" name="Client community"/>
          <p:cNvSpPr txBox="1"/>
          <p:nvPr/>
        </p:nvSpPr>
        <p:spPr>
          <a:xfrm>
            <a:off x="711200" y="5801360"/>
            <a:ext cx="2794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80" b="0">
                <a:solidFill>
                  <a:srgbClr val="AAB3B1"/>
                </a:solidFill>
                <a:latin typeface="Arial"/>
              </a:rPr>
              <a:t>Jumeirah Golf Estates</a:t>
            </a:r>
          </a:p>
        </p:txBody>
      </p:sp>
      <p:sp>
        <p:nvSpPr>
          <p:cNvPr id="11" name="Proposal date"/>
          <p:cNvSpPr txBox="1"/>
          <p:nvPr/>
        </p:nvSpPr>
        <p:spPr>
          <a:xfrm>
            <a:off x="711200" y="6206490"/>
            <a:ext cx="2794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80" b="0">
                <a:solidFill>
                  <a:srgbClr val="859290"/>
                </a:solidFill>
                <a:latin typeface="Arial"/>
              </a:rPr>
              <a:t>Aug 19, 2026</a:t>
            </a:r>
          </a:p>
        </p:txBody>
      </p:sp>
      <p:sp>
        <p:nvSpPr>
          <p:cNvPr id="12" name="Meta divider"/>
          <p:cNvSpPr/>
          <p:nvPr/>
        </p:nvSpPr>
        <p:spPr>
          <a:xfrm>
            <a:off x="3637279" y="5218430"/>
            <a:ext cx="15240" cy="137414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abel - system size"/>
          <p:cNvSpPr txBox="1"/>
          <p:nvPr/>
        </p:nvSpPr>
        <p:spPr>
          <a:xfrm>
            <a:off x="3945890" y="5155406"/>
            <a:ext cx="2794000" cy="331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spc="261">
                <a:solidFill>
                  <a:srgbClr val="859290"/>
                </a:solidFill>
                <a:latin typeface="Arial"/>
              </a:rPr>
              <a:t>SYSTEM SIZE</a:t>
            </a:r>
          </a:p>
        </p:txBody>
      </p:sp>
      <p:sp>
        <p:nvSpPr>
          <p:cNvPr id="14" name="System size"/>
          <p:cNvSpPr txBox="1"/>
          <p:nvPr/>
        </p:nvSpPr>
        <p:spPr>
          <a:xfrm>
            <a:off x="3945890" y="5413375"/>
            <a:ext cx="2623820" cy="1195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870"/>
              </a:lnSpc>
            </a:pPr>
            <a:r>
              <a:rPr sz="2100" b="0">
                <a:solidFill>
                  <a:srgbClr val="FFFFFF"/>
                </a:solidFill>
                <a:latin typeface="Arial"/>
              </a:rPr>
              <a:t>12 kW system ·</a:t>
            </a:r>
          </a:p>
          <a:p>
            <a:pPr algn="l">
              <a:lnSpc>
                <a:spcPts val="2870"/>
              </a:lnSpc>
            </a:pPr>
            <a:r>
              <a:rPr sz="2100" b="0">
                <a:solidFill>
                  <a:srgbClr val="FFFFFF"/>
                </a:solidFill>
                <a:latin typeface="Arial"/>
              </a:rPr>
              <a:t>covers </a:t>
            </a:r>
            <a:r>
              <a:rPr sz="2100" b="0">
                <a:solidFill>
                  <a:srgbClr val="6FE39C"/>
                </a:solidFill>
                <a:latin typeface="Arial Black"/>
              </a:rPr>
              <a:t>84%</a:t>
            </a:r>
            <a:r>
              <a:rPr sz="2100" b="0">
                <a:solidFill>
                  <a:srgbClr val="FFFFFF"/>
                </a:solidFill>
                <a:latin typeface="Arial"/>
              </a:rPr>
              <a:t> of your</a:t>
            </a:r>
          </a:p>
          <a:p>
            <a:pPr algn="l">
              <a:lnSpc>
                <a:spcPts val="2870"/>
              </a:lnSpc>
            </a:pPr>
            <a:r>
              <a:rPr sz="2100" b="0">
                <a:solidFill>
                  <a:srgbClr val="FFFFFF"/>
                </a:solidFill>
                <a:latin typeface="Arial"/>
              </a:rPr>
              <a:t>home</a:t>
            </a:r>
          </a:p>
        </p:txBody>
      </p:sp>
      <p:sp>
        <p:nvSpPr>
          <p:cNvPr id="15" name="Progress rail track"/>
          <p:cNvSpPr/>
          <p:nvPr/>
        </p:nvSpPr>
        <p:spPr>
          <a:xfrm>
            <a:off x="11684000" y="355600"/>
            <a:ext cx="50800" cy="6146800"/>
          </a:xfrm>
          <a:prstGeom prst="roundRect">
            <a:avLst>
              <a:gd name="adj" fmla="val 50000"/>
            </a:avLst>
          </a:prstGeom>
          <a:solidFill>
            <a:srgbClr val="E2EFE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rogress rail fill"/>
          <p:cNvSpPr/>
          <p:nvPr/>
        </p:nvSpPr>
        <p:spPr>
          <a:xfrm>
            <a:off x="11684000" y="355600"/>
            <a:ext cx="50800" cy="47283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8382A"/>
              </a:gs>
              <a:gs pos="100000">
                <a:srgbClr val="6FE39C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rogress dot glow 24"/>
          <p:cNvSpPr/>
          <p:nvPr/>
        </p:nvSpPr>
        <p:spPr>
          <a:xfrm>
            <a:off x="11557000" y="676030"/>
            <a:ext cx="304800" cy="304800"/>
          </a:xfrm>
          <a:prstGeom prst="ellipse">
            <a:avLst/>
          </a:prstGeom>
          <a:solidFill>
            <a:srgbClr val="6FE39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rogress dot glow 18"/>
          <p:cNvSpPr/>
          <p:nvPr/>
        </p:nvSpPr>
        <p:spPr>
          <a:xfrm>
            <a:off x="11595100" y="714130"/>
            <a:ext cx="228600" cy="228600"/>
          </a:xfrm>
          <a:prstGeom prst="ellipse">
            <a:avLst/>
          </a:prstGeom>
          <a:solidFill>
            <a:srgbClr val="6FE39C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rogress dot"/>
          <p:cNvSpPr/>
          <p:nvPr/>
        </p:nvSpPr>
        <p:spPr>
          <a:xfrm>
            <a:off x="11645900" y="764930"/>
            <a:ext cx="127000" cy="127000"/>
          </a:xfrm>
          <a:prstGeom prst="ellipse">
            <a:avLst/>
          </a:prstGeom>
          <a:solidFill>
            <a:srgbClr val="6FE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915650" y="662537"/>
            <a:ext cx="635000" cy="3317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50" b="1">
                <a:solidFill>
                  <a:srgbClr val="BCC2C1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