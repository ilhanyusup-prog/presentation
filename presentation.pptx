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6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Hero render - villa with solar array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" y="0"/>
            <a:ext cx="6864350" cy="12192000"/>
          </a:xfrm>
          <a:prstGeom prst="rect">
            <a:avLst/>
          </a:prstGeom>
        </p:spPr>
      </p:pic>
      <p:sp>
        <p:nvSpPr>
          <p:cNvPr id="4" name="Logo panel"/>
          <p:cNvSpPr/>
          <p:nvPr/>
        </p:nvSpPr>
        <p:spPr>
          <a:xfrm>
            <a:off x="2876550" y="635000"/>
            <a:ext cx="1104900" cy="889000"/>
          </a:xfrm>
          <a:prstGeom prst="roundRect">
            <a:avLst>
              <a:gd name="adj" fmla="val 11400"/>
            </a:avLst>
          </a:prstGeom>
          <a:solidFill>
            <a:srgbClr val="7F7F7F">
              <a:alpha val="7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lmuhib Solar Energy logo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50" y="635000"/>
            <a:ext cx="1104900" cy="889000"/>
          </a:xfrm>
          <a:prstGeom prst="rect">
            <a:avLst/>
          </a:prstGeom>
        </p:spPr>
      </p:pic>
      <p:sp>
        <p:nvSpPr>
          <p:cNvPr id="6" name="Accent dash"/>
          <p:cNvSpPr/>
          <p:nvPr/>
        </p:nvSpPr>
        <p:spPr>
          <a:xfrm>
            <a:off x="406400" y="8636000"/>
            <a:ext cx="355600" cy="5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9D66"/>
              </a:gs>
              <a:gs pos="100000">
                <a:srgbClr val="6FE39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yebrow - reference"/>
          <p:cNvSpPr txBox="1"/>
          <p:nvPr/>
        </p:nvSpPr>
        <p:spPr>
          <a:xfrm>
            <a:off x="914400" y="8494818"/>
            <a:ext cx="440266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52">
                <a:solidFill>
                  <a:srgbClr val="A3ABAA"/>
                </a:solidFill>
                <a:latin typeface="Arial"/>
              </a:rPr>
              <a:t>SOLAR PROPOSAL · NFX-[0000-0000]</a:t>
            </a:r>
          </a:p>
        </p:txBody>
      </p:sp>
      <p:sp>
        <p:nvSpPr>
          <p:cNvPr id="8" name="Headline"/>
          <p:cNvSpPr txBox="1"/>
          <p:nvPr/>
        </p:nvSpPr>
        <p:spPr>
          <a:xfrm>
            <a:off x="406400" y="9013613"/>
            <a:ext cx="5418666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100"/>
              </a:lnSpc>
            </a:pPr>
            <a:r>
              <a:rPr sz="5000" b="0" spc="-150">
                <a:solidFill>
                  <a:srgbClr val="FFFFFF"/>
                </a:solidFill>
                <a:latin typeface="Arial Black"/>
              </a:rPr>
              <a:t>Power your villa</a:t>
            </a:r>
          </a:p>
          <a:p>
            <a:pPr algn="l">
              <a:lnSpc>
                <a:spcPts val="5100"/>
              </a:lnSpc>
            </a:pPr>
            <a:r>
              <a:rPr sz="5000" b="0" spc="-150">
                <a:solidFill>
                  <a:srgbClr val="FFFFFF"/>
                </a:solidFill>
                <a:latin typeface="Arial Black"/>
              </a:rPr>
              <a:t>with solar</a:t>
            </a:r>
          </a:p>
        </p:txBody>
      </p:sp>
      <p:sp>
        <p:nvSpPr>
          <p:cNvPr id="9" name="Label - prepared for"/>
          <p:cNvSpPr txBox="1"/>
          <p:nvPr/>
        </p:nvSpPr>
        <p:spPr>
          <a:xfrm>
            <a:off x="406400" y="10704618"/>
            <a:ext cx="2709333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52">
                <a:solidFill>
                  <a:srgbClr val="859290"/>
                </a:solidFill>
                <a:latin typeface="Arial"/>
              </a:rPr>
              <a:t>PREPARED FOR</a:t>
            </a:r>
          </a:p>
        </p:txBody>
      </p:sp>
      <p:sp>
        <p:nvSpPr>
          <p:cNvPr id="10" name="Client name"/>
          <p:cNvSpPr txBox="1"/>
          <p:nvPr/>
        </p:nvSpPr>
        <p:spPr>
          <a:xfrm>
            <a:off x="406400" y="10967296"/>
            <a:ext cx="2709333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Mr Ahmed</a:t>
            </a:r>
          </a:p>
        </p:txBody>
      </p:sp>
      <p:sp>
        <p:nvSpPr>
          <p:cNvPr id="11" name="Client community"/>
          <p:cNvSpPr txBox="1"/>
          <p:nvPr/>
        </p:nvSpPr>
        <p:spPr>
          <a:xfrm>
            <a:off x="406400" y="11321626"/>
            <a:ext cx="2709333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AAB3B1"/>
                </a:solidFill>
                <a:latin typeface="Arial"/>
              </a:rPr>
              <a:t>Jumeirah Golf Estates</a:t>
            </a:r>
          </a:p>
        </p:txBody>
      </p:sp>
      <p:sp>
        <p:nvSpPr>
          <p:cNvPr id="12" name="Proposal date"/>
          <p:cNvSpPr txBox="1"/>
          <p:nvPr/>
        </p:nvSpPr>
        <p:spPr>
          <a:xfrm>
            <a:off x="406400" y="11708553"/>
            <a:ext cx="2709333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859290"/>
                </a:solidFill>
                <a:latin typeface="Arial"/>
              </a:rPr>
              <a:t>Aug 19, 2026</a:t>
            </a:r>
          </a:p>
        </p:txBody>
      </p:sp>
      <p:sp>
        <p:nvSpPr>
          <p:cNvPr id="13" name="Meta divider"/>
          <p:cNvSpPr/>
          <p:nvPr/>
        </p:nvSpPr>
        <p:spPr>
          <a:xfrm>
            <a:off x="3194050" y="10769600"/>
            <a:ext cx="12700" cy="13081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 - system size"/>
          <p:cNvSpPr txBox="1"/>
          <p:nvPr/>
        </p:nvSpPr>
        <p:spPr>
          <a:xfrm>
            <a:off x="3486573" y="10704618"/>
            <a:ext cx="2455333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52">
                <a:solidFill>
                  <a:srgbClr val="859290"/>
                </a:solidFill>
                <a:latin typeface="Arial"/>
              </a:rPr>
              <a:t>SYSTEM SIZE</a:t>
            </a:r>
          </a:p>
        </p:txBody>
      </p:sp>
      <p:sp>
        <p:nvSpPr>
          <p:cNvPr id="15" name="System size"/>
          <p:cNvSpPr txBox="1"/>
          <p:nvPr/>
        </p:nvSpPr>
        <p:spPr>
          <a:xfrm>
            <a:off x="3486573" y="10952479"/>
            <a:ext cx="2455333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33"/>
              </a:lnSpc>
            </a:pPr>
            <a:r>
              <a:rPr sz="2000" b="0">
                <a:solidFill>
                  <a:srgbClr val="06251C"/>
                </a:solidFill>
                <a:latin typeface="Arial"/>
              </a:rPr>
              <a:t>12 kW system ·</a:t>
            </a:r>
          </a:p>
          <a:p>
            <a:pPr algn="l">
              <a:lnSpc>
                <a:spcPts val="2733"/>
              </a:lnSpc>
            </a:pPr>
            <a:r>
              <a:rPr sz="2000" b="0">
                <a:solidFill>
                  <a:srgbClr val="06251C"/>
                </a:solidFill>
                <a:latin typeface="Arial"/>
              </a:rPr>
              <a:t>covers </a:t>
            </a:r>
            <a:r>
              <a:rPr sz="2000" b="0">
                <a:solidFill>
                  <a:srgbClr val="6FE39C"/>
                </a:solidFill>
                <a:latin typeface="Arial Black"/>
              </a:rPr>
              <a:t>84%</a:t>
            </a:r>
            <a:r>
              <a:rPr sz="2000" b="0">
                <a:solidFill>
                  <a:srgbClr val="06251C"/>
                </a:solidFill>
                <a:latin typeface="Arial"/>
              </a:rPr>
              <a:t> of your</a:t>
            </a:r>
          </a:p>
          <a:p>
            <a:pPr algn="l">
              <a:lnSpc>
                <a:spcPts val="2733"/>
              </a:lnSpc>
            </a:pPr>
            <a:r>
              <a:rPr sz="2000" b="0">
                <a:solidFill>
                  <a:srgbClr val="06251C"/>
                </a:solidFill>
                <a:latin typeface="Arial"/>
              </a:rPr>
              <a:t>home</a:t>
            </a:r>
          </a:p>
        </p:txBody>
      </p:sp>
      <p:sp>
        <p:nvSpPr>
          <p:cNvPr id="16" name="Progress rail track"/>
          <p:cNvSpPr/>
          <p:nvPr/>
        </p:nvSpPr>
        <p:spPr>
          <a:xfrm>
            <a:off x="6540500" y="635000"/>
            <a:ext cx="38100" cy="10922000"/>
          </a:xfrm>
          <a:prstGeom prst="roundRect">
            <a:avLst>
              <a:gd name="adj" fmla="val 50000"/>
            </a:avLst>
          </a:prstGeom>
          <a:solidFill>
            <a:srgbClr val="E2EFE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gress rail fill"/>
          <p:cNvSpPr/>
          <p:nvPr/>
        </p:nvSpPr>
        <p:spPr>
          <a:xfrm>
            <a:off x="6540500" y="635000"/>
            <a:ext cx="38100" cy="84015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382A"/>
              </a:gs>
              <a:gs pos="100000">
                <a:srgbClr val="6FE39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gress dot glow 2.1x"/>
          <p:cNvSpPr/>
          <p:nvPr/>
        </p:nvSpPr>
        <p:spPr>
          <a:xfrm>
            <a:off x="6456426" y="1372029"/>
            <a:ext cx="206247" cy="206247"/>
          </a:xfrm>
          <a:prstGeom prst="ellipse">
            <a:avLst/>
          </a:prstGeom>
          <a:solidFill>
            <a:srgbClr val="6FE39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gress dot glow 1.55x"/>
          <p:cNvSpPr/>
          <p:nvPr/>
        </p:nvSpPr>
        <p:spPr>
          <a:xfrm>
            <a:off x="6483434" y="1399038"/>
            <a:ext cx="152230" cy="152230"/>
          </a:xfrm>
          <a:prstGeom prst="ellipse">
            <a:avLst/>
          </a:prstGeom>
          <a:solidFill>
            <a:srgbClr val="6FE39C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gress dot"/>
          <p:cNvSpPr/>
          <p:nvPr/>
        </p:nvSpPr>
        <p:spPr>
          <a:xfrm>
            <a:off x="6510443" y="1426047"/>
            <a:ext cx="98213" cy="98213"/>
          </a:xfrm>
          <a:prstGeom prst="ellipse">
            <a:avLst/>
          </a:prstGeom>
          <a:solidFill>
            <a:srgbClr val="6FE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ge number"/>
          <p:cNvSpPr txBox="1"/>
          <p:nvPr/>
        </p:nvSpPr>
        <p:spPr>
          <a:xfrm>
            <a:off x="5566833" y="1293918"/>
            <a:ext cx="84666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BCC2C1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