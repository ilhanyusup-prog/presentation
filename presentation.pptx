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06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Hero render - villa with solar array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7" y="0"/>
            <a:ext cx="6864350" cy="12192000"/>
          </a:xfrm>
          <a:prstGeom prst="rect">
            <a:avLst/>
          </a:prstGeom>
        </p:spPr>
      </p:pic>
      <p:sp>
        <p:nvSpPr>
          <p:cNvPr id="4" name="Logo panel"/>
          <p:cNvSpPr/>
          <p:nvPr/>
        </p:nvSpPr>
        <p:spPr>
          <a:xfrm>
            <a:off x="2876550" y="635000"/>
            <a:ext cx="1104900" cy="889000"/>
          </a:xfrm>
          <a:prstGeom prst="roundRect">
            <a:avLst>
              <a:gd name="adj" fmla="val 114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lmuhib Solar Energy logo" descr="logo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550" y="635000"/>
            <a:ext cx="1104900" cy="889000"/>
          </a:xfrm>
          <a:prstGeom prst="rect">
            <a:avLst/>
          </a:prstGeom>
        </p:spPr>
      </p:pic>
      <p:sp>
        <p:nvSpPr>
          <p:cNvPr id="6" name="Accent dash"/>
          <p:cNvSpPr/>
          <p:nvPr/>
        </p:nvSpPr>
        <p:spPr>
          <a:xfrm>
            <a:off x="406400" y="8636000"/>
            <a:ext cx="355600" cy="508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F9D66"/>
              </a:gs>
              <a:gs pos="100000">
                <a:srgbClr val="6FE39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yebrow - reference"/>
          <p:cNvSpPr txBox="1"/>
          <p:nvPr/>
        </p:nvSpPr>
        <p:spPr>
          <a:xfrm>
            <a:off x="914400" y="8494818"/>
            <a:ext cx="4402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A3ABAA"/>
                </a:solidFill>
                <a:latin typeface="Arial"/>
              </a:rPr>
              <a:t>SOLAR PROPOSAL · NFX-[0000-0000]</a:t>
            </a:r>
          </a:p>
        </p:txBody>
      </p:sp>
      <p:sp>
        <p:nvSpPr>
          <p:cNvPr id="8" name="Headline"/>
          <p:cNvSpPr txBox="1"/>
          <p:nvPr/>
        </p:nvSpPr>
        <p:spPr>
          <a:xfrm>
            <a:off x="406400" y="9013613"/>
            <a:ext cx="5418666" cy="139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FFFFFF"/>
                </a:solidFill>
                <a:latin typeface="Arial Black"/>
              </a:rPr>
              <a:t>Power your villa</a:t>
            </a:r>
          </a:p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FFFFFF"/>
                </a:solidFill>
                <a:latin typeface="Arial Black"/>
              </a:rPr>
              <a:t>with solar</a:t>
            </a:r>
          </a:p>
        </p:txBody>
      </p:sp>
      <p:sp>
        <p:nvSpPr>
          <p:cNvPr id="9" name="Label - prepared for"/>
          <p:cNvSpPr txBox="1"/>
          <p:nvPr/>
        </p:nvSpPr>
        <p:spPr>
          <a:xfrm>
            <a:off x="406400" y="10704618"/>
            <a:ext cx="2709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859290"/>
                </a:solidFill>
                <a:latin typeface="Arial"/>
              </a:rPr>
              <a:t>PREPARED FOR</a:t>
            </a:r>
          </a:p>
        </p:txBody>
      </p:sp>
      <p:sp>
        <p:nvSpPr>
          <p:cNvPr id="10" name="Client name"/>
          <p:cNvSpPr txBox="1"/>
          <p:nvPr/>
        </p:nvSpPr>
        <p:spPr>
          <a:xfrm>
            <a:off x="406400" y="10967296"/>
            <a:ext cx="2709333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Mr Ahmed</a:t>
            </a:r>
          </a:p>
        </p:txBody>
      </p:sp>
      <p:sp>
        <p:nvSpPr>
          <p:cNvPr id="11" name="Client community"/>
          <p:cNvSpPr txBox="1"/>
          <p:nvPr/>
        </p:nvSpPr>
        <p:spPr>
          <a:xfrm>
            <a:off x="406400" y="11321626"/>
            <a:ext cx="270933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AAB3B1"/>
                </a:solidFill>
                <a:latin typeface="Arial"/>
              </a:rPr>
              <a:t>Jumeirah Golf Estates</a:t>
            </a:r>
          </a:p>
        </p:txBody>
      </p:sp>
      <p:sp>
        <p:nvSpPr>
          <p:cNvPr id="12" name="Proposal date"/>
          <p:cNvSpPr txBox="1"/>
          <p:nvPr/>
        </p:nvSpPr>
        <p:spPr>
          <a:xfrm>
            <a:off x="406400" y="11708553"/>
            <a:ext cx="270933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859290"/>
                </a:solidFill>
                <a:latin typeface="Arial"/>
              </a:rPr>
              <a:t>Aug 19, 2026</a:t>
            </a:r>
          </a:p>
        </p:txBody>
      </p:sp>
      <p:sp>
        <p:nvSpPr>
          <p:cNvPr id="13" name="Meta divider"/>
          <p:cNvSpPr/>
          <p:nvPr/>
        </p:nvSpPr>
        <p:spPr>
          <a:xfrm>
            <a:off x="3194050" y="10769600"/>
            <a:ext cx="12700" cy="13081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abel - system size"/>
          <p:cNvSpPr txBox="1"/>
          <p:nvPr/>
        </p:nvSpPr>
        <p:spPr>
          <a:xfrm>
            <a:off x="3486573" y="10704618"/>
            <a:ext cx="2455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859290"/>
                </a:solidFill>
                <a:latin typeface="Arial"/>
              </a:rPr>
              <a:t>SYSTEM SIZE</a:t>
            </a:r>
          </a:p>
        </p:txBody>
      </p:sp>
      <p:sp>
        <p:nvSpPr>
          <p:cNvPr id="15" name="System size"/>
          <p:cNvSpPr txBox="1"/>
          <p:nvPr/>
        </p:nvSpPr>
        <p:spPr>
          <a:xfrm>
            <a:off x="3486573" y="10952479"/>
            <a:ext cx="2455333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733"/>
              </a:lnSpc>
            </a:pPr>
            <a:r>
              <a:rPr sz="2000" b="0">
                <a:solidFill>
                  <a:srgbClr val="06251C"/>
                </a:solidFill>
                <a:latin typeface="Arial"/>
              </a:rPr>
              <a:t>12 kW system ·</a:t>
            </a:r>
          </a:p>
          <a:p>
            <a:pPr algn="l">
              <a:lnSpc>
                <a:spcPts val="2733"/>
              </a:lnSpc>
            </a:pPr>
            <a:r>
              <a:rPr sz="2000" b="0">
                <a:solidFill>
                  <a:srgbClr val="06251C"/>
                </a:solidFill>
                <a:latin typeface="Arial"/>
              </a:rPr>
              <a:t>covers </a:t>
            </a:r>
            <a:r>
              <a:rPr sz="2000" b="0">
                <a:solidFill>
                  <a:srgbClr val="6FE39C"/>
                </a:solidFill>
                <a:latin typeface="Arial Black"/>
              </a:rPr>
              <a:t>84%</a:t>
            </a:r>
            <a:r>
              <a:rPr sz="2000" b="0">
                <a:solidFill>
                  <a:srgbClr val="06251C"/>
                </a:solidFill>
                <a:latin typeface="Arial"/>
              </a:rPr>
              <a:t> of your</a:t>
            </a:r>
          </a:p>
          <a:p>
            <a:pPr algn="l">
              <a:lnSpc>
                <a:spcPts val="2733"/>
              </a:lnSpc>
            </a:pPr>
            <a:r>
              <a:rPr sz="2000" b="0">
                <a:solidFill>
                  <a:srgbClr val="06251C"/>
                </a:solidFill>
                <a:latin typeface="Arial"/>
              </a:rPr>
              <a:t>home</a:t>
            </a:r>
          </a:p>
        </p:txBody>
      </p:sp>
      <p:sp>
        <p:nvSpPr>
          <p:cNvPr id="1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rogress rail fill"/>
          <p:cNvSpPr/>
          <p:nvPr/>
        </p:nvSpPr>
        <p:spPr>
          <a:xfrm>
            <a:off x="6540500" y="635000"/>
            <a:ext cx="38100" cy="840153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8382A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rogress dot glow 2.1x"/>
          <p:cNvSpPr/>
          <p:nvPr/>
        </p:nvSpPr>
        <p:spPr>
          <a:xfrm>
            <a:off x="6456426" y="1372029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rogress dot glow 1.55x"/>
          <p:cNvSpPr/>
          <p:nvPr/>
        </p:nvSpPr>
        <p:spPr>
          <a:xfrm>
            <a:off x="6483434" y="1399038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rogress dot"/>
          <p:cNvSpPr/>
          <p:nvPr/>
        </p:nvSpPr>
        <p:spPr>
          <a:xfrm>
            <a:off x="6510443" y="1426047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ge number"/>
          <p:cNvSpPr txBox="1"/>
          <p:nvPr/>
        </p:nvSpPr>
        <p:spPr>
          <a:xfrm>
            <a:off x="5566833" y="1293918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BCC2C1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 panel"/>
          <p:cNvSpPr/>
          <p:nvPr/>
        </p:nvSpPr>
        <p:spPr>
          <a:xfrm>
            <a:off x="508000" y="635000"/>
            <a:ext cx="609600" cy="381000"/>
          </a:xfrm>
          <a:prstGeom prst="roundRect">
            <a:avLst>
              <a:gd name="adj" fmla="val 114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Almuhib Solar Energy logo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609600" cy="38100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1320800" y="658918"/>
            <a:ext cx="55372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SAVINGS</a:t>
            </a:r>
          </a:p>
        </p:txBody>
      </p:sp>
      <p:sp>
        <p:nvSpPr>
          <p:cNvPr id="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gress rail fill"/>
          <p:cNvSpPr/>
          <p:nvPr/>
        </p:nvSpPr>
        <p:spPr>
          <a:xfrm>
            <a:off x="6540500" y="635000"/>
            <a:ext cx="38100" cy="168030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dot glow 2.1x"/>
          <p:cNvSpPr/>
          <p:nvPr/>
        </p:nvSpPr>
        <p:spPr>
          <a:xfrm>
            <a:off x="6456426" y="2212183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dot glow 1.55x"/>
          <p:cNvSpPr/>
          <p:nvPr/>
        </p:nvSpPr>
        <p:spPr>
          <a:xfrm>
            <a:off x="6483434" y="2239192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dot"/>
          <p:cNvSpPr/>
          <p:nvPr/>
        </p:nvSpPr>
        <p:spPr>
          <a:xfrm>
            <a:off x="6510443" y="2266201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ge number"/>
          <p:cNvSpPr txBox="1"/>
          <p:nvPr/>
        </p:nvSpPr>
        <p:spPr>
          <a:xfrm>
            <a:off x="5566833" y="2153382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6B8279"/>
                </a:solidFill>
                <a:latin typeface="Arial"/>
              </a:rPr>
              <a:t>02</a:t>
            </a:r>
          </a:p>
        </p:txBody>
      </p:sp>
      <p:sp>
        <p:nvSpPr>
          <p:cNvPr id="12" name="Headline"/>
          <p:cNvSpPr txBox="1"/>
          <p:nvPr/>
        </p:nvSpPr>
        <p:spPr>
          <a:xfrm>
            <a:off x="508000" y="1152630"/>
            <a:ext cx="5926666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spc="-24">
                <a:solidFill>
                  <a:srgbClr val="06251C"/>
                </a:solidFill>
                <a:latin typeface="Arial"/>
              </a:rPr>
              <a:t>Your estimated savings</a:t>
            </a:r>
          </a:p>
        </p:txBody>
      </p:sp>
      <p:sp>
        <p:nvSpPr>
          <p:cNvPr id="13" name="Savings card"/>
          <p:cNvSpPr/>
          <p:nvPr/>
        </p:nvSpPr>
        <p:spPr>
          <a:xfrm>
            <a:off x="508000" y="1811866"/>
            <a:ext cx="5588000" cy="2472266"/>
          </a:xfrm>
          <a:prstGeom prst="roundRect">
            <a:avLst>
              <a:gd name="adj" fmla="val 8219"/>
            </a:avLst>
          </a:prstGeom>
          <a:gradFill rotWithShape="1">
            <a:gsLst>
              <a:gs pos="0">
                <a:srgbClr val="06251C"/>
              </a:gs>
              <a:gs pos="100000">
                <a:srgbClr val="109565"/>
              </a:gs>
            </a:gsLst>
            <a:lin scaled="0" ang="288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of array frame"/>
          <p:cNvSpPr/>
          <p:nvPr/>
        </p:nvSpPr>
        <p:spPr>
          <a:xfrm>
            <a:off x="736600" y="2413000"/>
            <a:ext cx="1270000" cy="1270000"/>
          </a:xfrm>
          <a:prstGeom prst="roundRect">
            <a:avLst>
              <a:gd name="adj" fmla="val 140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Roof array glyph" descr="icon_image_slot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925" y="2845858"/>
            <a:ext cx="133350" cy="133350"/>
          </a:xfrm>
          <a:prstGeom prst="rect">
            <a:avLst/>
          </a:prstGeom>
        </p:spPr>
      </p:pic>
      <p:sp>
        <p:nvSpPr>
          <p:cNvPr id="16" name="Roof array label"/>
          <p:cNvSpPr txBox="1"/>
          <p:nvPr/>
        </p:nvSpPr>
        <p:spPr>
          <a:xfrm>
            <a:off x="736600" y="2983706"/>
            <a:ext cx="1270000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062A1F"/>
                </a:solidFill>
                <a:latin typeface="Segoe UI"/>
              </a:rPr>
              <a:t>Roof array detail</a:t>
            </a:r>
          </a:p>
        </p:txBody>
      </p:sp>
      <p:sp>
        <p:nvSpPr>
          <p:cNvPr id="17" name="Roof array link"/>
          <p:cNvSpPr txBox="1"/>
          <p:nvPr/>
        </p:nvSpPr>
        <p:spPr>
          <a:xfrm>
            <a:off x="736600" y="3127957"/>
            <a:ext cx="1270000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62A1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062A1F"/>
                </a:solidFill>
                <a:latin typeface="Segoe UI"/>
              </a:rPr>
              <a:t>browse files</a:t>
            </a:r>
          </a:p>
        </p:txBody>
      </p:sp>
      <p:sp>
        <p:nvSpPr>
          <p:cNvPr id="18" name="Monthly savings label"/>
          <p:cNvSpPr txBox="1"/>
          <p:nvPr/>
        </p:nvSpPr>
        <p:spPr>
          <a:xfrm>
            <a:off x="2260600" y="1980353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Monthly savings</a:t>
            </a:r>
          </a:p>
        </p:txBody>
      </p:sp>
      <p:sp>
        <p:nvSpPr>
          <p:cNvPr id="19" name="Monthly savings value"/>
          <p:cNvSpPr txBox="1"/>
          <p:nvPr/>
        </p:nvSpPr>
        <p:spPr>
          <a:xfrm>
            <a:off x="2260600" y="2264621"/>
            <a:ext cx="3386666" cy="641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0" spc="-102">
                <a:solidFill>
                  <a:srgbClr val="FFFFFF"/>
                </a:solidFill>
                <a:latin typeface="Arial Black"/>
              </a:rPr>
              <a:t>6000 AED</a:t>
            </a:r>
          </a:p>
        </p:txBody>
      </p:sp>
      <p:sp>
        <p:nvSpPr>
          <p:cNvPr id="20" name="Savings card rule"/>
          <p:cNvSpPr/>
          <p:nvPr/>
        </p:nvSpPr>
        <p:spPr>
          <a:xfrm>
            <a:off x="2260600" y="3041226"/>
            <a:ext cx="3606800" cy="1354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nnual savings label"/>
          <p:cNvSpPr txBox="1"/>
          <p:nvPr/>
        </p:nvSpPr>
        <p:spPr>
          <a:xfrm>
            <a:off x="2260600" y="3142826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Annual savings</a:t>
            </a:r>
          </a:p>
        </p:txBody>
      </p:sp>
      <p:sp>
        <p:nvSpPr>
          <p:cNvPr id="22" name="Annual savings value"/>
          <p:cNvSpPr txBox="1"/>
          <p:nvPr/>
        </p:nvSpPr>
        <p:spPr>
          <a:xfrm>
            <a:off x="2260600" y="3426248"/>
            <a:ext cx="3556000" cy="641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0" spc="-102">
                <a:solidFill>
                  <a:srgbClr val="FFFFFF"/>
                </a:solidFill>
                <a:latin typeface="Arial Black"/>
              </a:rPr>
              <a:t>70,100 AED</a:t>
            </a:r>
          </a:p>
        </p:txBody>
      </p:sp>
      <p:sp>
        <p:nvSpPr>
          <p:cNvPr id="23" name="Donut track"/>
          <p:cNvSpPr/>
          <p:nvPr/>
        </p:nvSpPr>
        <p:spPr>
          <a:xfrm>
            <a:off x="609600" y="4584700"/>
            <a:ext cx="1524000" cy="1524000"/>
          </a:xfrm>
          <a:prstGeom prst="ellipse">
            <a:avLst/>
          </a:prstGeom>
          <a:noFill/>
          <a:ln w="215900">
            <a:solidFill>
              <a:srgbClr val="E2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nut arc - 84%"/>
          <p:cNvSpPr/>
          <p:nvPr/>
        </p:nvSpPr>
        <p:spPr>
          <a:xfrm>
            <a:off x="609600" y="4584700"/>
            <a:ext cx="1524000" cy="1524000"/>
          </a:xfrm>
          <a:prstGeom prst="arc">
            <a:avLst>
              <a:gd name="adj1" fmla="val 16200000"/>
              <a:gd name="adj2" fmla="val 12743999"/>
            </a:avLst>
          </a:prstGeom>
          <a:noFill/>
          <a:ln w="215900" cap="rnd">
            <a:gradFill>
              <a:gsLst>
                <a:gs pos="0">
                  <a:srgbClr val="0E7E57"/>
                </a:gs>
                <a:gs pos="100000">
                  <a:srgbClr val="7CE6A4"/>
                </a:gs>
              </a:gsLst>
              <a:lin ang="135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overage"/>
          <p:cNvSpPr txBox="1"/>
          <p:nvPr/>
        </p:nvSpPr>
        <p:spPr>
          <a:xfrm>
            <a:off x="2540000" y="4637299"/>
            <a:ext cx="3556000" cy="1133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0" b="0" spc="-195">
                <a:gradFill>
                  <a:gsLst>
                    <a:gs pos="0">
                      <a:srgbClr val="0E7F53"/>
                    </a:gs>
                    <a:gs pos="100000">
                      <a:srgbClr val="15B783"/>
                    </a:gs>
                  </a:gsLst>
                  <a:lin ang="1020000" scaled="0"/>
                </a:gradFill>
                <a:latin typeface="Arial Black"/>
              </a:rPr>
              <a:t>84%</a:t>
            </a:r>
          </a:p>
        </p:txBody>
      </p:sp>
      <p:sp>
        <p:nvSpPr>
          <p:cNvPr id="26" name="Coverage caption"/>
          <p:cNvSpPr txBox="1"/>
          <p:nvPr/>
        </p:nvSpPr>
        <p:spPr>
          <a:xfrm>
            <a:off x="2540000" y="5606626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of your home covered</a:t>
            </a:r>
          </a:p>
        </p:txBody>
      </p:sp>
      <p:sp>
        <p:nvSpPr>
          <p:cNvPr id="27" name="Current bill label"/>
          <p:cNvSpPr txBox="1"/>
          <p:nvPr/>
        </p:nvSpPr>
        <p:spPr>
          <a:xfrm>
            <a:off x="508000" y="6412653"/>
            <a:ext cx="169333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Current bill</a:t>
            </a:r>
          </a:p>
        </p:txBody>
      </p:sp>
      <p:sp>
        <p:nvSpPr>
          <p:cNvPr id="28" name="Current bill bar"/>
          <p:cNvSpPr/>
          <p:nvPr/>
        </p:nvSpPr>
        <p:spPr>
          <a:xfrm>
            <a:off x="1866900" y="6451600"/>
            <a:ext cx="2489200" cy="279400"/>
          </a:xfrm>
          <a:prstGeom prst="roundRect">
            <a:avLst>
              <a:gd name="adj" fmla="val 18181"/>
            </a:avLst>
          </a:prstGeom>
          <a:solidFill>
            <a:srgbClr val="06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urrent bill amount"/>
          <p:cNvSpPr txBox="1"/>
          <p:nvPr/>
        </p:nvSpPr>
        <p:spPr>
          <a:xfrm>
            <a:off x="3556000" y="6383020"/>
            <a:ext cx="254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000" b="0">
                <a:solidFill>
                  <a:srgbClr val="06251C"/>
                </a:solidFill>
                <a:latin typeface="Arial Black"/>
              </a:rPr>
              <a:t>2,300 AED</a:t>
            </a:r>
          </a:p>
        </p:txBody>
      </p:sp>
      <p:sp>
        <p:nvSpPr>
          <p:cNvPr id="30" name="New bill label"/>
          <p:cNvSpPr txBox="1"/>
          <p:nvPr/>
        </p:nvSpPr>
        <p:spPr>
          <a:xfrm>
            <a:off x="508000" y="7174653"/>
            <a:ext cx="169333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New bill</a:t>
            </a:r>
          </a:p>
        </p:txBody>
      </p:sp>
      <p:sp>
        <p:nvSpPr>
          <p:cNvPr id="31" name="New bill track"/>
          <p:cNvSpPr/>
          <p:nvPr/>
        </p:nvSpPr>
        <p:spPr>
          <a:xfrm>
            <a:off x="1866900" y="7213600"/>
            <a:ext cx="2489200" cy="279400"/>
          </a:xfrm>
          <a:prstGeom prst="roundRect">
            <a:avLst>
              <a:gd name="adj" fmla="val 18181"/>
            </a:avLst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New bill bar"/>
          <p:cNvSpPr/>
          <p:nvPr/>
        </p:nvSpPr>
        <p:spPr>
          <a:xfrm>
            <a:off x="1866900" y="7213600"/>
            <a:ext cx="1308100" cy="279400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13A774"/>
              </a:gs>
              <a:gs pos="100000">
                <a:srgbClr val="7CE7A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New bill amount"/>
          <p:cNvSpPr txBox="1"/>
          <p:nvPr/>
        </p:nvSpPr>
        <p:spPr>
          <a:xfrm>
            <a:off x="3556000" y="7145019"/>
            <a:ext cx="254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000" b="0">
                <a:solidFill>
                  <a:srgbClr val="06251C"/>
                </a:solidFill>
                <a:latin typeface="Arial Black"/>
              </a:rPr>
              <a:t>1,200 AED</a:t>
            </a:r>
          </a:p>
        </p:txBody>
      </p:sp>
      <p:sp>
        <p:nvSpPr>
          <p:cNvPr id="34" name="Saving pill"/>
          <p:cNvSpPr/>
          <p:nvPr/>
        </p:nvSpPr>
        <p:spPr>
          <a:xfrm>
            <a:off x="3269826" y="6896100"/>
            <a:ext cx="1365673" cy="330200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aving amount"/>
          <p:cNvSpPr txBox="1"/>
          <p:nvPr/>
        </p:nvSpPr>
        <p:spPr>
          <a:xfrm>
            <a:off x="3395133" y="6898851"/>
            <a:ext cx="1693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0B5F45"/>
                </a:solidFill>
                <a:latin typeface="Arial Black"/>
              </a:rPr>
              <a:t>−1,100 AED</a:t>
            </a:r>
          </a:p>
        </p:txBody>
      </p:sp>
      <p:sp>
        <p:nvSpPr>
          <p:cNvPr id="36" name="Stat card 1"/>
          <p:cNvSpPr/>
          <p:nvPr/>
        </p:nvSpPr>
        <p:spPr>
          <a:xfrm>
            <a:off x="514350" y="7740650"/>
            <a:ext cx="2679700" cy="1346200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2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tat card 1 label"/>
          <p:cNvSpPr txBox="1"/>
          <p:nvPr/>
        </p:nvSpPr>
        <p:spPr>
          <a:xfrm>
            <a:off x="800100" y="7972213"/>
            <a:ext cx="26797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Current consumption</a:t>
            </a:r>
          </a:p>
        </p:txBody>
      </p:sp>
      <p:sp>
        <p:nvSpPr>
          <p:cNvPr id="38" name="Stat card 1 value"/>
          <p:cNvSpPr txBox="1"/>
          <p:nvPr/>
        </p:nvSpPr>
        <p:spPr>
          <a:xfrm>
            <a:off x="800100" y="8353795"/>
            <a:ext cx="2679700" cy="4746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50" b="0">
                <a:solidFill>
                  <a:srgbClr val="06251C"/>
                </a:solidFill>
                <a:latin typeface="Arial Black"/>
              </a:rPr>
              <a:t>83.930 kWh</a:t>
            </a:r>
          </a:p>
        </p:txBody>
      </p:sp>
      <p:sp>
        <p:nvSpPr>
          <p:cNvPr id="39" name="Stat card 2"/>
          <p:cNvSpPr/>
          <p:nvPr/>
        </p:nvSpPr>
        <p:spPr>
          <a:xfrm>
            <a:off x="3409950" y="7740650"/>
            <a:ext cx="2679700" cy="1346200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2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tat card 2 label"/>
          <p:cNvSpPr txBox="1"/>
          <p:nvPr/>
        </p:nvSpPr>
        <p:spPr>
          <a:xfrm>
            <a:off x="3695700" y="7972213"/>
            <a:ext cx="26797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Solar generation</a:t>
            </a:r>
          </a:p>
        </p:txBody>
      </p:sp>
      <p:sp>
        <p:nvSpPr>
          <p:cNvPr id="41" name="Stat card 2 value"/>
          <p:cNvSpPr txBox="1"/>
          <p:nvPr/>
        </p:nvSpPr>
        <p:spPr>
          <a:xfrm>
            <a:off x="3695700" y="8353795"/>
            <a:ext cx="2679700" cy="4746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50" b="0">
                <a:solidFill>
                  <a:srgbClr val="06251C"/>
                </a:solidFill>
                <a:latin typeface="Arial Black"/>
              </a:rPr>
              <a:t>35.00 kWh</a:t>
            </a:r>
          </a:p>
        </p:txBody>
      </p:sp>
      <p:sp>
        <p:nvSpPr>
          <p:cNvPr id="42" name="Tile 1 disc"/>
          <p:cNvSpPr/>
          <p:nvPr/>
        </p:nvSpPr>
        <p:spPr>
          <a:xfrm>
            <a:off x="787400" y="1024255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Tile 1 icon" descr="icon_p02_no_bil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950" y="10452100"/>
            <a:ext cx="304800" cy="304800"/>
          </a:xfrm>
          <a:prstGeom prst="rect">
            <a:avLst/>
          </a:prstGeom>
        </p:spPr>
      </p:pic>
      <p:sp>
        <p:nvSpPr>
          <p:cNvPr id="44" name="Tile 1 label"/>
          <p:cNvSpPr txBox="1"/>
          <p:nvPr/>
        </p:nvSpPr>
        <p:spPr>
          <a:xfrm>
            <a:off x="302683" y="11035453"/>
            <a:ext cx="1693333" cy="3361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46"/>
              </a:lnSpc>
            </a:pPr>
            <a:r>
              <a:rPr sz="1400" b="0">
                <a:solidFill>
                  <a:srgbClr val="06251C"/>
                </a:solidFill>
                <a:latin typeface="Arial"/>
              </a:rPr>
              <a:t>No more bills</a:t>
            </a:r>
          </a:p>
        </p:txBody>
      </p:sp>
      <p:sp>
        <p:nvSpPr>
          <p:cNvPr id="45" name="Tile 2 disc"/>
          <p:cNvSpPr/>
          <p:nvPr/>
        </p:nvSpPr>
        <p:spPr>
          <a:xfrm>
            <a:off x="2222500" y="1024255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Tile 2 icon" descr="icon_p02_warran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2050" y="10452100"/>
            <a:ext cx="304800" cy="304800"/>
          </a:xfrm>
          <a:prstGeom prst="rect">
            <a:avLst/>
          </a:prstGeom>
        </p:spPr>
      </p:pic>
      <p:sp>
        <p:nvSpPr>
          <p:cNvPr id="47" name="Tile 2 label"/>
          <p:cNvSpPr txBox="1"/>
          <p:nvPr/>
        </p:nvSpPr>
        <p:spPr>
          <a:xfrm>
            <a:off x="1737783" y="11035453"/>
            <a:ext cx="1693333" cy="5706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46"/>
              </a:lnSpc>
            </a:pPr>
            <a:r>
              <a:rPr sz="1400" b="0">
                <a:solidFill>
                  <a:srgbClr val="06251C"/>
                </a:solidFill>
                <a:latin typeface="Arial"/>
              </a:rPr>
              <a:t>25-year</a:t>
            </a:r>
          </a:p>
          <a:p>
            <a:pPr algn="ctr">
              <a:lnSpc>
                <a:spcPts val="1846"/>
              </a:lnSpc>
            </a:pPr>
            <a:r>
              <a:rPr sz="1400" b="0">
                <a:solidFill>
                  <a:srgbClr val="06251C"/>
                </a:solidFill>
                <a:latin typeface="Arial"/>
              </a:rPr>
              <a:t>warranty</a:t>
            </a:r>
          </a:p>
        </p:txBody>
      </p:sp>
      <p:sp>
        <p:nvSpPr>
          <p:cNvPr id="48" name="Tile 3 disc"/>
          <p:cNvSpPr/>
          <p:nvPr/>
        </p:nvSpPr>
        <p:spPr>
          <a:xfrm>
            <a:off x="3657600" y="1024255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Tile 3 icon" descr="icon_p02_u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7150" y="10452100"/>
            <a:ext cx="304800" cy="304800"/>
          </a:xfrm>
          <a:prstGeom prst="rect">
            <a:avLst/>
          </a:prstGeom>
        </p:spPr>
      </p:pic>
      <p:sp>
        <p:nvSpPr>
          <p:cNvPr id="50" name="Tile 3 label"/>
          <p:cNvSpPr txBox="1"/>
          <p:nvPr/>
        </p:nvSpPr>
        <p:spPr>
          <a:xfrm>
            <a:off x="3172883" y="11035453"/>
            <a:ext cx="1693333" cy="5706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46"/>
              </a:lnSpc>
            </a:pPr>
            <a:r>
              <a:rPr sz="1400" b="0">
                <a:solidFill>
                  <a:srgbClr val="06251C"/>
                </a:solidFill>
                <a:latin typeface="Arial"/>
              </a:rPr>
              <a:t>Built for the</a:t>
            </a:r>
          </a:p>
          <a:p>
            <a:pPr algn="ctr">
              <a:lnSpc>
                <a:spcPts val="1846"/>
              </a:lnSpc>
            </a:pPr>
            <a:r>
              <a:rPr sz="1400" b="0">
                <a:solidFill>
                  <a:srgbClr val="06251C"/>
                </a:solidFill>
                <a:latin typeface="Arial"/>
              </a:rPr>
              <a:t>UAE</a:t>
            </a:r>
          </a:p>
        </p:txBody>
      </p:sp>
      <p:sp>
        <p:nvSpPr>
          <p:cNvPr id="51" name="Tile 4 disc"/>
          <p:cNvSpPr/>
          <p:nvPr/>
        </p:nvSpPr>
        <p:spPr>
          <a:xfrm>
            <a:off x="5092700" y="1024255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Tile 4 icon" descr="icon_p02_power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2250" y="10452100"/>
            <a:ext cx="304800" cy="304800"/>
          </a:xfrm>
          <a:prstGeom prst="rect">
            <a:avLst/>
          </a:prstGeom>
        </p:spPr>
      </p:pic>
      <p:sp>
        <p:nvSpPr>
          <p:cNvPr id="53" name="Tile 4 label"/>
          <p:cNvSpPr txBox="1"/>
          <p:nvPr/>
        </p:nvSpPr>
        <p:spPr>
          <a:xfrm>
            <a:off x="4607983" y="11035453"/>
            <a:ext cx="1693333" cy="5706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46"/>
              </a:lnSpc>
            </a:pPr>
            <a:r>
              <a:rPr sz="1400" b="0">
                <a:solidFill>
                  <a:srgbClr val="06251C"/>
                </a:solidFill>
                <a:latin typeface="Arial"/>
              </a:rPr>
              <a:t>Always</a:t>
            </a:r>
          </a:p>
          <a:p>
            <a:pPr algn="ctr">
              <a:lnSpc>
                <a:spcPts val="1846"/>
              </a:lnSpc>
            </a:pPr>
            <a:r>
              <a:rPr sz="1400" b="0">
                <a:solidFill>
                  <a:srgbClr val="06251C"/>
                </a:solidFill>
                <a:latin typeface="Arial"/>
              </a:rPr>
              <a:t>powered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 panel"/>
          <p:cNvSpPr/>
          <p:nvPr/>
        </p:nvSpPr>
        <p:spPr>
          <a:xfrm>
            <a:off x="508000" y="635000"/>
            <a:ext cx="609600" cy="381000"/>
          </a:xfrm>
          <a:prstGeom prst="roundRect">
            <a:avLst>
              <a:gd name="adj" fmla="val 114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Almuhib Solar Energy logo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609600" cy="38100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1320800" y="658918"/>
            <a:ext cx="55372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COST STRUCTURE</a:t>
            </a:r>
          </a:p>
        </p:txBody>
      </p:sp>
      <p:sp>
        <p:nvSpPr>
          <p:cNvPr id="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gress rail fill"/>
          <p:cNvSpPr/>
          <p:nvPr/>
        </p:nvSpPr>
        <p:spPr>
          <a:xfrm>
            <a:off x="6540500" y="635000"/>
            <a:ext cx="38100" cy="252046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dot glow 2.1x"/>
          <p:cNvSpPr/>
          <p:nvPr/>
        </p:nvSpPr>
        <p:spPr>
          <a:xfrm>
            <a:off x="6456426" y="3052337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dot glow 1.55x"/>
          <p:cNvSpPr/>
          <p:nvPr/>
        </p:nvSpPr>
        <p:spPr>
          <a:xfrm>
            <a:off x="6483434" y="3079346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dot"/>
          <p:cNvSpPr/>
          <p:nvPr/>
        </p:nvSpPr>
        <p:spPr>
          <a:xfrm>
            <a:off x="6510443" y="3106354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ge number"/>
          <p:cNvSpPr txBox="1"/>
          <p:nvPr/>
        </p:nvSpPr>
        <p:spPr>
          <a:xfrm>
            <a:off x="5566833" y="2993536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6B8279"/>
                </a:solidFill>
                <a:latin typeface="Arial"/>
              </a:rPr>
              <a:t>03</a:t>
            </a:r>
          </a:p>
        </p:txBody>
      </p:sp>
      <p:sp>
        <p:nvSpPr>
          <p:cNvPr id="12" name="Headline"/>
          <p:cNvSpPr txBox="1"/>
          <p:nvPr/>
        </p:nvSpPr>
        <p:spPr>
          <a:xfrm>
            <a:off x="508000" y="1254230"/>
            <a:ext cx="5926666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spc="-24">
                <a:solidFill>
                  <a:srgbClr val="06251C"/>
                </a:solidFill>
                <a:latin typeface="Arial"/>
              </a:rPr>
              <a:t>What you're paying for</a:t>
            </a:r>
          </a:p>
        </p:txBody>
      </p:sp>
      <p:sp>
        <p:nvSpPr>
          <p:cNvPr id="13" name="Bar segment 1"/>
          <p:cNvSpPr/>
          <p:nvPr/>
        </p:nvSpPr>
        <p:spPr>
          <a:xfrm>
            <a:off x="508000" y="2019300"/>
            <a:ext cx="971973" cy="279400"/>
          </a:xfrm>
          <a:prstGeom prst="roundRect">
            <a:avLst>
              <a:gd name="adj" fmla="val 18181"/>
            </a:avLst>
          </a:prstGeom>
          <a:solidFill>
            <a:srgbClr val="06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ar segment 6"/>
          <p:cNvSpPr/>
          <p:nvPr/>
        </p:nvSpPr>
        <p:spPr>
          <a:xfrm>
            <a:off x="5733626" y="2019300"/>
            <a:ext cx="362373" cy="279400"/>
          </a:xfrm>
          <a:prstGeom prst="roundRect">
            <a:avLst>
              <a:gd name="adj" fmla="val 18181"/>
            </a:avLst>
          </a:prstGeom>
          <a:solidFill>
            <a:srgbClr val="C7F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ar segment 2"/>
          <p:cNvSpPr/>
          <p:nvPr/>
        </p:nvSpPr>
        <p:spPr>
          <a:xfrm>
            <a:off x="1429173" y="2019300"/>
            <a:ext cx="621453" cy="279400"/>
          </a:xfrm>
          <a:prstGeom prst="rect">
            <a:avLst/>
          </a:prstGeom>
          <a:solidFill>
            <a:srgbClr val="0B5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ar segment 3"/>
          <p:cNvSpPr/>
          <p:nvPr/>
        </p:nvSpPr>
        <p:spPr>
          <a:xfrm>
            <a:off x="2050626" y="2019300"/>
            <a:ext cx="965200" cy="279400"/>
          </a:xfrm>
          <a:prstGeom prst="rect">
            <a:avLst/>
          </a:prstGeom>
          <a:solidFill>
            <a:srgbClr val="12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Bar segment 4"/>
          <p:cNvSpPr/>
          <p:nvPr/>
        </p:nvSpPr>
        <p:spPr>
          <a:xfrm>
            <a:off x="3015826" y="2019300"/>
            <a:ext cx="1708573" cy="279400"/>
          </a:xfrm>
          <a:prstGeom prst="rect">
            <a:avLst/>
          </a:prstGeom>
          <a:solidFill>
            <a:srgbClr val="17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ar segment 5"/>
          <p:cNvSpPr/>
          <p:nvPr/>
        </p:nvSpPr>
        <p:spPr>
          <a:xfrm>
            <a:off x="4724400" y="2019300"/>
            <a:ext cx="1060026" cy="279400"/>
          </a:xfrm>
          <a:prstGeom prst="rect">
            <a:avLst/>
          </a:prstGeom>
          <a:solidFill>
            <a:srgbClr val="6FE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Bar caption"/>
          <p:cNvSpPr txBox="1"/>
          <p:nvPr/>
        </p:nvSpPr>
        <p:spPr>
          <a:xfrm>
            <a:off x="508000" y="2360718"/>
            <a:ext cx="5249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8279"/>
                </a:solidFill>
                <a:latin typeface="Arial"/>
              </a:rPr>
              <a:t>Six lines, proportional to spend · AED, VAT included</a:t>
            </a:r>
          </a:p>
        </p:txBody>
      </p:sp>
      <p:sp>
        <p:nvSpPr>
          <p:cNvPr id="20" name="Row 1 bullet"/>
          <p:cNvSpPr/>
          <p:nvPr/>
        </p:nvSpPr>
        <p:spPr>
          <a:xfrm>
            <a:off x="508000" y="3022600"/>
            <a:ext cx="139700" cy="139700"/>
          </a:xfrm>
          <a:prstGeom prst="roundRect">
            <a:avLst>
              <a:gd name="adj" fmla="val 27272"/>
            </a:avLst>
          </a:prstGeom>
          <a:solidFill>
            <a:srgbClr val="06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w 1 name"/>
          <p:cNvSpPr txBox="1"/>
          <p:nvPr/>
        </p:nvSpPr>
        <p:spPr>
          <a:xfrm>
            <a:off x="800100" y="2877396"/>
            <a:ext cx="4064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Solar panels</a:t>
            </a:r>
          </a:p>
        </p:txBody>
      </p:sp>
      <p:sp>
        <p:nvSpPr>
          <p:cNvPr id="22" name="Row 1 spec"/>
          <p:cNvSpPr txBox="1"/>
          <p:nvPr/>
        </p:nvSpPr>
        <p:spPr>
          <a:xfrm>
            <a:off x="800100" y="3212253"/>
            <a:ext cx="4402666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33 × 700 W bifacial</a:t>
            </a:r>
          </a:p>
        </p:txBody>
      </p:sp>
      <p:sp>
        <p:nvSpPr>
          <p:cNvPr id="23" name="Row 1 amount"/>
          <p:cNvSpPr txBox="1"/>
          <p:nvPr/>
        </p:nvSpPr>
        <p:spPr>
          <a:xfrm>
            <a:off x="3556000" y="2915919"/>
            <a:ext cx="254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000" b="0">
                <a:solidFill>
                  <a:srgbClr val="06251C"/>
                </a:solidFill>
                <a:latin typeface="Arial Black"/>
              </a:rPr>
              <a:t>18,711</a:t>
            </a:r>
          </a:p>
        </p:txBody>
      </p:sp>
      <p:sp>
        <p:nvSpPr>
          <p:cNvPr id="24" name="Row 1 rule"/>
          <p:cNvSpPr/>
          <p:nvPr/>
        </p:nvSpPr>
        <p:spPr>
          <a:xfrm>
            <a:off x="508000" y="3689350"/>
            <a:ext cx="55880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w 2 bullet"/>
          <p:cNvSpPr/>
          <p:nvPr/>
        </p:nvSpPr>
        <p:spPr>
          <a:xfrm>
            <a:off x="508000" y="3968750"/>
            <a:ext cx="139700" cy="139700"/>
          </a:xfrm>
          <a:prstGeom prst="roundRect">
            <a:avLst>
              <a:gd name="adj" fmla="val 27272"/>
            </a:avLst>
          </a:prstGeom>
          <a:solidFill>
            <a:srgbClr val="0B5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w 2 name"/>
          <p:cNvSpPr txBox="1"/>
          <p:nvPr/>
        </p:nvSpPr>
        <p:spPr>
          <a:xfrm>
            <a:off x="800100" y="3823546"/>
            <a:ext cx="4064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Hybrid inverter</a:t>
            </a:r>
          </a:p>
        </p:txBody>
      </p:sp>
      <p:sp>
        <p:nvSpPr>
          <p:cNvPr id="27" name="Row 2 spec"/>
          <p:cNvSpPr txBox="1"/>
          <p:nvPr/>
        </p:nvSpPr>
        <p:spPr>
          <a:xfrm>
            <a:off x="800100" y="4158403"/>
            <a:ext cx="4402666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Deye 30 kW, on &amp; off-grid</a:t>
            </a:r>
          </a:p>
        </p:txBody>
      </p:sp>
      <p:sp>
        <p:nvSpPr>
          <p:cNvPr id="28" name="Row 2 amount"/>
          <p:cNvSpPr txBox="1"/>
          <p:nvPr/>
        </p:nvSpPr>
        <p:spPr>
          <a:xfrm>
            <a:off x="3556000" y="3862069"/>
            <a:ext cx="254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000" b="0">
                <a:solidFill>
                  <a:srgbClr val="06251C"/>
                </a:solidFill>
                <a:latin typeface="Arial Black"/>
              </a:rPr>
              <a:t>12,548</a:t>
            </a:r>
          </a:p>
        </p:txBody>
      </p:sp>
      <p:sp>
        <p:nvSpPr>
          <p:cNvPr id="29" name="Row 2 rule"/>
          <p:cNvSpPr/>
          <p:nvPr/>
        </p:nvSpPr>
        <p:spPr>
          <a:xfrm>
            <a:off x="508000" y="4635500"/>
            <a:ext cx="55880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w 3 bullet"/>
          <p:cNvSpPr/>
          <p:nvPr/>
        </p:nvSpPr>
        <p:spPr>
          <a:xfrm>
            <a:off x="508000" y="4914900"/>
            <a:ext cx="139700" cy="139700"/>
          </a:xfrm>
          <a:prstGeom prst="roundRect">
            <a:avLst>
              <a:gd name="adj" fmla="val 27272"/>
            </a:avLst>
          </a:prstGeom>
          <a:solidFill>
            <a:srgbClr val="12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w 3 name"/>
          <p:cNvSpPr txBox="1"/>
          <p:nvPr/>
        </p:nvSpPr>
        <p:spPr>
          <a:xfrm>
            <a:off x="800100" y="4769696"/>
            <a:ext cx="4064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Battery storage</a:t>
            </a:r>
          </a:p>
        </p:txBody>
      </p:sp>
      <p:sp>
        <p:nvSpPr>
          <p:cNvPr id="32" name="Row 3 spec"/>
          <p:cNvSpPr txBox="1"/>
          <p:nvPr/>
        </p:nvSpPr>
        <p:spPr>
          <a:xfrm>
            <a:off x="800100" y="5104553"/>
            <a:ext cx="4402666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4 × 20 kWh LFP</a:t>
            </a:r>
          </a:p>
        </p:txBody>
      </p:sp>
      <p:sp>
        <p:nvSpPr>
          <p:cNvPr id="33" name="Row 3 amount"/>
          <p:cNvSpPr txBox="1"/>
          <p:nvPr/>
        </p:nvSpPr>
        <p:spPr>
          <a:xfrm>
            <a:off x="3556000" y="4808220"/>
            <a:ext cx="254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000" b="0">
                <a:solidFill>
                  <a:srgbClr val="06251C"/>
                </a:solidFill>
                <a:latin typeface="Arial Black"/>
              </a:rPr>
              <a:t>19,560</a:t>
            </a:r>
          </a:p>
        </p:txBody>
      </p:sp>
      <p:sp>
        <p:nvSpPr>
          <p:cNvPr id="34" name="Row 3 rule"/>
          <p:cNvSpPr/>
          <p:nvPr/>
        </p:nvSpPr>
        <p:spPr>
          <a:xfrm>
            <a:off x="508000" y="5581650"/>
            <a:ext cx="55880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w 4 bullet"/>
          <p:cNvSpPr/>
          <p:nvPr/>
        </p:nvSpPr>
        <p:spPr>
          <a:xfrm>
            <a:off x="508000" y="5861050"/>
            <a:ext cx="139700" cy="139700"/>
          </a:xfrm>
          <a:prstGeom prst="roundRect">
            <a:avLst>
              <a:gd name="adj" fmla="val 27272"/>
            </a:avLst>
          </a:prstGeom>
          <a:solidFill>
            <a:srgbClr val="17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w 4 name"/>
          <p:cNvSpPr txBox="1"/>
          <p:nvPr/>
        </p:nvSpPr>
        <p:spPr>
          <a:xfrm>
            <a:off x="800100" y="5715846"/>
            <a:ext cx="4064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Installation</a:t>
            </a:r>
          </a:p>
        </p:txBody>
      </p:sp>
      <p:sp>
        <p:nvSpPr>
          <p:cNvPr id="37" name="Row 4 spec"/>
          <p:cNvSpPr txBox="1"/>
          <p:nvPr/>
        </p:nvSpPr>
        <p:spPr>
          <a:xfrm>
            <a:off x="800100" y="6050703"/>
            <a:ext cx="4402666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Mounting, wiring, commissioning</a:t>
            </a:r>
          </a:p>
        </p:txBody>
      </p:sp>
      <p:sp>
        <p:nvSpPr>
          <p:cNvPr id="38" name="Row 4 amount"/>
          <p:cNvSpPr txBox="1"/>
          <p:nvPr/>
        </p:nvSpPr>
        <p:spPr>
          <a:xfrm>
            <a:off x="3556000" y="5754370"/>
            <a:ext cx="254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000" b="0">
                <a:solidFill>
                  <a:srgbClr val="06251C"/>
                </a:solidFill>
                <a:latin typeface="Arial Black"/>
              </a:rPr>
              <a:t>34,650</a:t>
            </a:r>
          </a:p>
        </p:txBody>
      </p:sp>
      <p:sp>
        <p:nvSpPr>
          <p:cNvPr id="39" name="Row 4 rule"/>
          <p:cNvSpPr/>
          <p:nvPr/>
        </p:nvSpPr>
        <p:spPr>
          <a:xfrm>
            <a:off x="508000" y="6527800"/>
            <a:ext cx="55880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w 5 bullet"/>
          <p:cNvSpPr/>
          <p:nvPr/>
        </p:nvSpPr>
        <p:spPr>
          <a:xfrm>
            <a:off x="508000" y="6807200"/>
            <a:ext cx="139700" cy="139700"/>
          </a:xfrm>
          <a:prstGeom prst="roundRect">
            <a:avLst>
              <a:gd name="adj" fmla="val 27272"/>
            </a:avLst>
          </a:prstGeom>
          <a:solidFill>
            <a:srgbClr val="6FE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w 5 name"/>
          <p:cNvSpPr txBox="1"/>
          <p:nvPr/>
        </p:nvSpPr>
        <p:spPr>
          <a:xfrm>
            <a:off x="800100" y="6661996"/>
            <a:ext cx="4064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Cables and components</a:t>
            </a:r>
          </a:p>
        </p:txBody>
      </p:sp>
      <p:sp>
        <p:nvSpPr>
          <p:cNvPr id="42" name="Row 5 spec"/>
          <p:cNvSpPr txBox="1"/>
          <p:nvPr/>
        </p:nvSpPr>
        <p:spPr>
          <a:xfrm>
            <a:off x="800100" y="6996853"/>
            <a:ext cx="4402666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DC/AC cabling, breakers, connectors</a:t>
            </a:r>
          </a:p>
        </p:txBody>
      </p:sp>
      <p:sp>
        <p:nvSpPr>
          <p:cNvPr id="43" name="Row 5 amount"/>
          <p:cNvSpPr txBox="1"/>
          <p:nvPr/>
        </p:nvSpPr>
        <p:spPr>
          <a:xfrm>
            <a:off x="3556000" y="6700519"/>
            <a:ext cx="254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000" b="0">
                <a:solidFill>
                  <a:srgbClr val="06251C"/>
                </a:solidFill>
                <a:latin typeface="Arial Black"/>
              </a:rPr>
              <a:t>21,384</a:t>
            </a:r>
          </a:p>
        </p:txBody>
      </p:sp>
      <p:sp>
        <p:nvSpPr>
          <p:cNvPr id="44" name="Row 5 rule"/>
          <p:cNvSpPr/>
          <p:nvPr/>
        </p:nvSpPr>
        <p:spPr>
          <a:xfrm>
            <a:off x="508000" y="7473950"/>
            <a:ext cx="55880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w 6 bullet"/>
          <p:cNvSpPr/>
          <p:nvPr/>
        </p:nvSpPr>
        <p:spPr>
          <a:xfrm>
            <a:off x="508000" y="7753350"/>
            <a:ext cx="139700" cy="139700"/>
          </a:xfrm>
          <a:prstGeom prst="roundRect">
            <a:avLst>
              <a:gd name="adj" fmla="val 27272"/>
            </a:avLst>
          </a:prstGeom>
          <a:solidFill>
            <a:srgbClr val="C7F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w 6 name"/>
          <p:cNvSpPr txBox="1"/>
          <p:nvPr/>
        </p:nvSpPr>
        <p:spPr>
          <a:xfrm>
            <a:off x="800100" y="7608146"/>
            <a:ext cx="4064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Approvals and logistics</a:t>
            </a:r>
          </a:p>
        </p:txBody>
      </p:sp>
      <p:sp>
        <p:nvSpPr>
          <p:cNvPr id="47" name="Row 6 spec"/>
          <p:cNvSpPr txBox="1"/>
          <p:nvPr/>
        </p:nvSpPr>
        <p:spPr>
          <a:xfrm>
            <a:off x="800100" y="7943003"/>
            <a:ext cx="4402666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Drawings, permits, transport, equipment</a:t>
            </a:r>
          </a:p>
        </p:txBody>
      </p:sp>
      <p:sp>
        <p:nvSpPr>
          <p:cNvPr id="48" name="Row 6 amount"/>
          <p:cNvSpPr txBox="1"/>
          <p:nvPr/>
        </p:nvSpPr>
        <p:spPr>
          <a:xfrm>
            <a:off x="3556000" y="7646669"/>
            <a:ext cx="254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000" b="0">
                <a:solidFill>
                  <a:srgbClr val="06251C"/>
                </a:solidFill>
                <a:latin typeface="Arial Black"/>
              </a:rPr>
              <a:t>6,353</a:t>
            </a:r>
          </a:p>
        </p:txBody>
      </p:sp>
      <p:sp>
        <p:nvSpPr>
          <p:cNvPr id="49" name="Total card"/>
          <p:cNvSpPr/>
          <p:nvPr/>
        </p:nvSpPr>
        <p:spPr>
          <a:xfrm>
            <a:off x="508000" y="9924626"/>
            <a:ext cx="5588000" cy="1632373"/>
          </a:xfrm>
          <a:prstGeom prst="roundRect">
            <a:avLst>
              <a:gd name="adj" fmla="val 12448"/>
            </a:avLst>
          </a:prstGeom>
          <a:solidFill>
            <a:srgbClr val="06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otal label"/>
          <p:cNvSpPr txBox="1"/>
          <p:nvPr/>
        </p:nvSpPr>
        <p:spPr>
          <a:xfrm>
            <a:off x="787400" y="10140526"/>
            <a:ext cx="4402666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Total project cost, including VAT</a:t>
            </a:r>
          </a:p>
        </p:txBody>
      </p:sp>
      <p:sp>
        <p:nvSpPr>
          <p:cNvPr id="51" name="Total amount"/>
          <p:cNvSpPr txBox="1"/>
          <p:nvPr/>
        </p:nvSpPr>
        <p:spPr>
          <a:xfrm>
            <a:off x="787400" y="10485120"/>
            <a:ext cx="4741333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 spc="-132">
                <a:solidFill>
                  <a:srgbClr val="FFFFFF"/>
                </a:solidFill>
                <a:latin typeface="Arial Black"/>
              </a:rPr>
              <a:t>AED 113,206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Logo panel"/>
          <p:cNvSpPr/>
          <p:nvPr/>
        </p:nvSpPr>
        <p:spPr>
          <a:xfrm>
            <a:off x="508000" y="635000"/>
            <a:ext cx="609600" cy="381000"/>
          </a:xfrm>
          <a:prstGeom prst="roundRect">
            <a:avLst>
              <a:gd name="adj" fmla="val 114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Almuhib Solar Energy logo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609600" cy="38100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1320800" y="658918"/>
            <a:ext cx="55372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PAYMENT</a:t>
            </a:r>
          </a:p>
        </p:txBody>
      </p:sp>
      <p:sp>
        <p:nvSpPr>
          <p:cNvPr id="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rogress rail fill"/>
          <p:cNvSpPr/>
          <p:nvPr/>
        </p:nvSpPr>
        <p:spPr>
          <a:xfrm>
            <a:off x="6540500" y="635000"/>
            <a:ext cx="38100" cy="336061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Progress dot glow 2.1x"/>
          <p:cNvSpPr/>
          <p:nvPr/>
        </p:nvSpPr>
        <p:spPr>
          <a:xfrm>
            <a:off x="6456426" y="3892491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rogress dot glow 1.55x"/>
          <p:cNvSpPr/>
          <p:nvPr/>
        </p:nvSpPr>
        <p:spPr>
          <a:xfrm>
            <a:off x="6483434" y="3919500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rogress dot"/>
          <p:cNvSpPr/>
          <p:nvPr/>
        </p:nvSpPr>
        <p:spPr>
          <a:xfrm>
            <a:off x="6510443" y="3946508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Page number"/>
          <p:cNvSpPr txBox="1"/>
          <p:nvPr/>
        </p:nvSpPr>
        <p:spPr>
          <a:xfrm>
            <a:off x="5566833" y="3833690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6B8279"/>
                </a:solidFill>
                <a:latin typeface="Arial"/>
              </a:rPr>
              <a:t>04</a:t>
            </a:r>
          </a:p>
        </p:txBody>
      </p:sp>
      <p:sp>
        <p:nvSpPr>
          <p:cNvPr id="12" name="Headline"/>
          <p:cNvSpPr txBox="1"/>
          <p:nvPr/>
        </p:nvSpPr>
        <p:spPr>
          <a:xfrm>
            <a:off x="508000" y="1236450"/>
            <a:ext cx="5926666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spc="-25">
                <a:solidFill>
                  <a:srgbClr val="06251C"/>
                </a:solidFill>
                <a:latin typeface="Arial"/>
              </a:rPr>
              <a:t>Chose your payment option</a:t>
            </a:r>
          </a:p>
        </p:txBody>
      </p:sp>
      <p:sp>
        <p:nvSpPr>
          <p:cNvPr id="13" name="Total value card"/>
          <p:cNvSpPr/>
          <p:nvPr/>
        </p:nvSpPr>
        <p:spPr>
          <a:xfrm>
            <a:off x="508000" y="2019300"/>
            <a:ext cx="5588000" cy="1028700"/>
          </a:xfrm>
          <a:prstGeom prst="roundRect">
            <a:avLst>
              <a:gd name="adj" fmla="val 19753"/>
            </a:avLst>
          </a:prstGeom>
          <a:solidFill>
            <a:srgbClr val="0625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otal value label"/>
          <p:cNvSpPr txBox="1"/>
          <p:nvPr/>
        </p:nvSpPr>
        <p:spPr>
          <a:xfrm>
            <a:off x="787400" y="2355426"/>
            <a:ext cx="2540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Total project value</a:t>
            </a:r>
          </a:p>
        </p:txBody>
      </p:sp>
      <p:sp>
        <p:nvSpPr>
          <p:cNvPr id="15" name="Total value amount"/>
          <p:cNvSpPr txBox="1"/>
          <p:nvPr/>
        </p:nvSpPr>
        <p:spPr>
          <a:xfrm>
            <a:off x="3391746" y="2227156"/>
            <a:ext cx="2709333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0" spc="-96">
                <a:solidFill>
                  <a:srgbClr val="FFFFFF"/>
                </a:solidFill>
                <a:latin typeface="Arial Black"/>
              </a:rPr>
              <a:t>AED 85,000</a:t>
            </a:r>
          </a:p>
        </p:txBody>
      </p:sp>
      <p:sp>
        <p:nvSpPr>
          <p:cNvPr id="16" name="Option 1 card"/>
          <p:cNvSpPr/>
          <p:nvPr/>
        </p:nvSpPr>
        <p:spPr>
          <a:xfrm>
            <a:off x="514350" y="3206750"/>
            <a:ext cx="5575300" cy="411480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2EFE7"/>
            </a:solidFill>
          </a:ln>
          <a:effectLst>
            <a:outerShdw blurRad="508000" dist="84666" dir="5400000" rotWithShape="0">
              <a:srgbClr val="06251C">
                <a:alpha val="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Option 1 title"/>
          <p:cNvSpPr txBox="1"/>
          <p:nvPr/>
        </p:nvSpPr>
        <p:spPr>
          <a:xfrm>
            <a:off x="800100" y="3428365"/>
            <a:ext cx="50038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OPTION 1 · PAY AS WE BUILD</a:t>
            </a:r>
          </a:p>
        </p:txBody>
      </p:sp>
      <p:sp>
        <p:nvSpPr>
          <p:cNvPr id="18" name="Option 1 row 1 pill"/>
          <p:cNvSpPr/>
          <p:nvPr/>
        </p:nvSpPr>
        <p:spPr>
          <a:xfrm>
            <a:off x="800100" y="3924723"/>
            <a:ext cx="730673" cy="336126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ption 1 row 1 share"/>
          <p:cNvSpPr txBox="1"/>
          <p:nvPr/>
        </p:nvSpPr>
        <p:spPr>
          <a:xfrm>
            <a:off x="927100" y="3914140"/>
            <a:ext cx="73067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0B5F45"/>
                </a:solidFill>
                <a:latin typeface="Arial Black"/>
              </a:rPr>
              <a:t>10%</a:t>
            </a:r>
          </a:p>
        </p:txBody>
      </p:sp>
      <p:sp>
        <p:nvSpPr>
          <p:cNvPr id="20" name="Option 1 row 1 stage"/>
          <p:cNvSpPr txBox="1"/>
          <p:nvPr/>
        </p:nvSpPr>
        <p:spPr>
          <a:xfrm>
            <a:off x="1681479" y="3841326"/>
            <a:ext cx="4402666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On signing — community approvals,</a:t>
            </a:r>
          </a:p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documents and detailed drawings</a:t>
            </a:r>
          </a:p>
        </p:txBody>
      </p:sp>
      <p:sp>
        <p:nvSpPr>
          <p:cNvPr id="21" name="Option 1 row 1 rule"/>
          <p:cNvSpPr/>
          <p:nvPr/>
        </p:nvSpPr>
        <p:spPr>
          <a:xfrm>
            <a:off x="800100" y="4530936"/>
            <a:ext cx="50038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ption 1 row 2 pill"/>
          <p:cNvSpPr/>
          <p:nvPr/>
        </p:nvSpPr>
        <p:spPr>
          <a:xfrm>
            <a:off x="800100" y="4619836"/>
            <a:ext cx="730673" cy="336126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ption 1 row 2 share"/>
          <p:cNvSpPr txBox="1"/>
          <p:nvPr/>
        </p:nvSpPr>
        <p:spPr>
          <a:xfrm>
            <a:off x="927100" y="4609253"/>
            <a:ext cx="73067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0B5F45"/>
                </a:solidFill>
                <a:latin typeface="Arial Black"/>
              </a:rPr>
              <a:t>30%</a:t>
            </a:r>
          </a:p>
        </p:txBody>
      </p:sp>
      <p:sp>
        <p:nvSpPr>
          <p:cNvPr id="24" name="Option 1 row 2 stage"/>
          <p:cNvSpPr txBox="1"/>
          <p:nvPr/>
        </p:nvSpPr>
        <p:spPr>
          <a:xfrm>
            <a:off x="1681479" y="4536439"/>
            <a:ext cx="4402666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Once permits and drawings are approved —</a:t>
            </a:r>
          </a:p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solar panels purchased</a:t>
            </a:r>
          </a:p>
        </p:txBody>
      </p:sp>
      <p:sp>
        <p:nvSpPr>
          <p:cNvPr id="25" name="Option 1 row 2 rule"/>
          <p:cNvSpPr/>
          <p:nvPr/>
        </p:nvSpPr>
        <p:spPr>
          <a:xfrm>
            <a:off x="800100" y="5226050"/>
            <a:ext cx="50038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ption 1 row 3 pill"/>
          <p:cNvSpPr/>
          <p:nvPr/>
        </p:nvSpPr>
        <p:spPr>
          <a:xfrm>
            <a:off x="800100" y="5314950"/>
            <a:ext cx="730673" cy="336126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ption 1 row 3 share"/>
          <p:cNvSpPr txBox="1"/>
          <p:nvPr/>
        </p:nvSpPr>
        <p:spPr>
          <a:xfrm>
            <a:off x="927100" y="5304366"/>
            <a:ext cx="73067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0B5F45"/>
                </a:solidFill>
                <a:latin typeface="Arial Black"/>
              </a:rPr>
              <a:t>30%</a:t>
            </a:r>
          </a:p>
        </p:txBody>
      </p:sp>
      <p:sp>
        <p:nvSpPr>
          <p:cNvPr id="28" name="Option 1 row 3 stage"/>
          <p:cNvSpPr txBox="1"/>
          <p:nvPr/>
        </p:nvSpPr>
        <p:spPr>
          <a:xfrm>
            <a:off x="1681479" y="5231553"/>
            <a:ext cx="4402666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Panel installation, batteries and inverters</a:t>
            </a:r>
          </a:p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purchased</a:t>
            </a:r>
          </a:p>
        </p:txBody>
      </p:sp>
      <p:sp>
        <p:nvSpPr>
          <p:cNvPr id="29" name="Option 1 row 3 rule"/>
          <p:cNvSpPr/>
          <p:nvPr/>
        </p:nvSpPr>
        <p:spPr>
          <a:xfrm>
            <a:off x="800100" y="5921163"/>
            <a:ext cx="50038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ption 1 row 4 pill"/>
          <p:cNvSpPr/>
          <p:nvPr/>
        </p:nvSpPr>
        <p:spPr>
          <a:xfrm>
            <a:off x="800100" y="6010063"/>
            <a:ext cx="730673" cy="336126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ption 1 row 4 share"/>
          <p:cNvSpPr txBox="1"/>
          <p:nvPr/>
        </p:nvSpPr>
        <p:spPr>
          <a:xfrm>
            <a:off x="927100" y="5999480"/>
            <a:ext cx="73067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0B5F45"/>
                </a:solidFill>
                <a:latin typeface="Arial Black"/>
              </a:rPr>
              <a:t>20%</a:t>
            </a:r>
          </a:p>
        </p:txBody>
      </p:sp>
      <p:sp>
        <p:nvSpPr>
          <p:cNvPr id="32" name="Option 1 row 4 stage"/>
          <p:cNvSpPr txBox="1"/>
          <p:nvPr/>
        </p:nvSpPr>
        <p:spPr>
          <a:xfrm>
            <a:off x="1681479" y="5926666"/>
            <a:ext cx="4402666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System connection and electrical works</a:t>
            </a:r>
          </a:p>
        </p:txBody>
      </p:sp>
      <p:sp>
        <p:nvSpPr>
          <p:cNvPr id="33" name="Option 1 row 4 rule"/>
          <p:cNvSpPr/>
          <p:nvPr/>
        </p:nvSpPr>
        <p:spPr>
          <a:xfrm>
            <a:off x="800100" y="6419003"/>
            <a:ext cx="50038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ption 1 row 5 pill"/>
          <p:cNvSpPr/>
          <p:nvPr/>
        </p:nvSpPr>
        <p:spPr>
          <a:xfrm>
            <a:off x="800100" y="6507903"/>
            <a:ext cx="730673" cy="336126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ption 1 row 5 share"/>
          <p:cNvSpPr txBox="1"/>
          <p:nvPr/>
        </p:nvSpPr>
        <p:spPr>
          <a:xfrm>
            <a:off x="927100" y="6497320"/>
            <a:ext cx="73067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0B5F45"/>
                </a:solidFill>
                <a:latin typeface="Arial Black"/>
              </a:rPr>
              <a:t>10%</a:t>
            </a:r>
          </a:p>
        </p:txBody>
      </p:sp>
      <p:sp>
        <p:nvSpPr>
          <p:cNvPr id="36" name="Option 1 row 5 stage"/>
          <p:cNvSpPr txBox="1"/>
          <p:nvPr/>
        </p:nvSpPr>
        <p:spPr>
          <a:xfrm>
            <a:off x="1681479" y="6424506"/>
            <a:ext cx="4402666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Final inspection, commissioning, monitoring</a:t>
            </a:r>
          </a:p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app, handover</a:t>
            </a:r>
          </a:p>
        </p:txBody>
      </p:sp>
      <p:sp>
        <p:nvSpPr>
          <p:cNvPr id="37" name="Option 1 stage count"/>
          <p:cNvSpPr txBox="1"/>
          <p:nvPr/>
        </p:nvSpPr>
        <p:spPr>
          <a:xfrm>
            <a:off x="4110566" y="3428365"/>
            <a:ext cx="1693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6B8279"/>
                </a:solidFill>
                <a:latin typeface="Arial"/>
              </a:rPr>
              <a:t>5 stages</a:t>
            </a:r>
          </a:p>
        </p:txBody>
      </p:sp>
      <p:sp>
        <p:nvSpPr>
          <p:cNvPr id="38" name="Option 2 card"/>
          <p:cNvSpPr/>
          <p:nvPr/>
        </p:nvSpPr>
        <p:spPr>
          <a:xfrm>
            <a:off x="517525" y="7489825"/>
            <a:ext cx="5568950" cy="3022600"/>
          </a:xfrm>
          <a:prstGeom prst="roundRect">
            <a:avLst>
              <a:gd name="adj" fmla="val 6722"/>
            </a:avLst>
          </a:prstGeom>
          <a:solidFill>
            <a:srgbClr val="FFFFFF"/>
          </a:solidFill>
          <a:ln w="19050" cap="rnd">
            <a:gradFill>
              <a:gsLst>
                <a:gs pos="0">
                  <a:srgbClr val="14AF7F"/>
                </a:gs>
                <a:gs pos="100000">
                  <a:srgbClr val="85E9AA"/>
                </a:gs>
              </a:gsLst>
              <a:lin ang="0" scaled="0"/>
            </a:gra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ption 2 title"/>
          <p:cNvSpPr txBox="1"/>
          <p:nvPr/>
        </p:nvSpPr>
        <p:spPr>
          <a:xfrm>
            <a:off x="806450" y="7777691"/>
            <a:ext cx="4991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OPTION 2 · FAST TRACK</a:t>
            </a:r>
          </a:p>
        </p:txBody>
      </p:sp>
      <p:sp>
        <p:nvSpPr>
          <p:cNvPr id="40" name="Option 2 row 1 pill"/>
          <p:cNvSpPr/>
          <p:nvPr/>
        </p:nvSpPr>
        <p:spPr>
          <a:xfrm>
            <a:off x="806450" y="8312573"/>
            <a:ext cx="730673" cy="336126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ption 2 row 1 share"/>
          <p:cNvSpPr txBox="1"/>
          <p:nvPr/>
        </p:nvSpPr>
        <p:spPr>
          <a:xfrm>
            <a:off x="933450" y="8301989"/>
            <a:ext cx="73067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0B5F45"/>
                </a:solidFill>
                <a:latin typeface="Arial Black"/>
              </a:rPr>
              <a:t>60%</a:t>
            </a:r>
          </a:p>
        </p:txBody>
      </p:sp>
      <p:sp>
        <p:nvSpPr>
          <p:cNvPr id="42" name="Option 2 row 1 stage"/>
          <p:cNvSpPr txBox="1"/>
          <p:nvPr/>
        </p:nvSpPr>
        <p:spPr>
          <a:xfrm>
            <a:off x="1687829" y="8229176"/>
            <a:ext cx="4402666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On signing — approvals, drawings and full</a:t>
            </a:r>
          </a:p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equipment purchase</a:t>
            </a:r>
          </a:p>
        </p:txBody>
      </p:sp>
      <p:sp>
        <p:nvSpPr>
          <p:cNvPr id="43" name="Option 2 row 1 rule"/>
          <p:cNvSpPr/>
          <p:nvPr/>
        </p:nvSpPr>
        <p:spPr>
          <a:xfrm>
            <a:off x="806450" y="8918786"/>
            <a:ext cx="49911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ption 2 row 2 pill"/>
          <p:cNvSpPr/>
          <p:nvPr/>
        </p:nvSpPr>
        <p:spPr>
          <a:xfrm>
            <a:off x="806450" y="9007686"/>
            <a:ext cx="730673" cy="336126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ption 2 row 2 share"/>
          <p:cNvSpPr txBox="1"/>
          <p:nvPr/>
        </p:nvSpPr>
        <p:spPr>
          <a:xfrm>
            <a:off x="933450" y="8997103"/>
            <a:ext cx="73067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0B5F45"/>
                </a:solidFill>
                <a:latin typeface="Arial Black"/>
              </a:rPr>
              <a:t>30%</a:t>
            </a:r>
          </a:p>
        </p:txBody>
      </p:sp>
      <p:sp>
        <p:nvSpPr>
          <p:cNvPr id="46" name="Option 2 row 2 stage"/>
          <p:cNvSpPr txBox="1"/>
          <p:nvPr/>
        </p:nvSpPr>
        <p:spPr>
          <a:xfrm>
            <a:off x="1687829" y="8924290"/>
            <a:ext cx="4402666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Installation complete — panels mounted,</a:t>
            </a:r>
          </a:p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system connected</a:t>
            </a:r>
          </a:p>
        </p:txBody>
      </p:sp>
      <p:sp>
        <p:nvSpPr>
          <p:cNvPr id="47" name="Option 2 row 2 rule"/>
          <p:cNvSpPr/>
          <p:nvPr/>
        </p:nvSpPr>
        <p:spPr>
          <a:xfrm>
            <a:off x="806450" y="9613899"/>
            <a:ext cx="49911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Option 2 row 3 pill"/>
          <p:cNvSpPr/>
          <p:nvPr/>
        </p:nvSpPr>
        <p:spPr>
          <a:xfrm>
            <a:off x="806450" y="9702799"/>
            <a:ext cx="730673" cy="336126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ption 2 row 3 share"/>
          <p:cNvSpPr txBox="1"/>
          <p:nvPr/>
        </p:nvSpPr>
        <p:spPr>
          <a:xfrm>
            <a:off x="933450" y="9692216"/>
            <a:ext cx="73067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0B5F45"/>
                </a:solidFill>
                <a:latin typeface="Arial Black"/>
              </a:rPr>
              <a:t>10%</a:t>
            </a:r>
          </a:p>
        </p:txBody>
      </p:sp>
      <p:sp>
        <p:nvSpPr>
          <p:cNvPr id="50" name="Option 2 row 3 stage"/>
          <p:cNvSpPr txBox="1"/>
          <p:nvPr/>
        </p:nvSpPr>
        <p:spPr>
          <a:xfrm>
            <a:off x="1687829" y="9619403"/>
            <a:ext cx="4402666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Final inspection, commissioning and</a:t>
            </a:r>
          </a:p>
          <a:p>
            <a:pPr algn="l">
              <a:lnSpc>
                <a:spcPts val="2100"/>
              </a:lnSpc>
            </a:pPr>
            <a:r>
              <a:rPr sz="1600" b="0">
                <a:solidFill>
                  <a:srgbClr val="06251C"/>
                </a:solidFill>
                <a:latin typeface="Arial"/>
              </a:rPr>
              <a:t>handover</a:t>
            </a:r>
          </a:p>
        </p:txBody>
      </p:sp>
      <p:sp>
        <p:nvSpPr>
          <p:cNvPr id="51" name="Option 2 saving pill"/>
          <p:cNvSpPr/>
          <p:nvPr/>
        </p:nvSpPr>
        <p:spPr>
          <a:xfrm>
            <a:off x="4603750" y="7778750"/>
            <a:ext cx="1193800" cy="304800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ption 2 saving"/>
          <p:cNvSpPr txBox="1"/>
          <p:nvPr/>
        </p:nvSpPr>
        <p:spPr>
          <a:xfrm>
            <a:off x="4729480" y="7768801"/>
            <a:ext cx="1354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0B5F45"/>
                </a:solidFill>
                <a:latin typeface="Arial Black"/>
              </a:rPr>
              <a:t>Save 15%</a:t>
            </a:r>
          </a:p>
        </p:txBody>
      </p:sp>
      <p:sp>
        <p:nvSpPr>
          <p:cNvPr id="53" name="Footer accent dash"/>
          <p:cNvSpPr/>
          <p:nvPr/>
        </p:nvSpPr>
        <p:spPr>
          <a:xfrm>
            <a:off x="508000" y="11423650"/>
            <a:ext cx="355600" cy="38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B5F45"/>
              </a:gs>
              <a:gs pos="100000">
                <a:srgbClr val="6FE39C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ffer validity"/>
          <p:cNvSpPr txBox="1"/>
          <p:nvPr/>
        </p:nvSpPr>
        <p:spPr>
          <a:xfrm>
            <a:off x="990600" y="11258126"/>
            <a:ext cx="474133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Offer validity — 14 days · until Aug 20,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Logo panel"/>
          <p:cNvSpPr/>
          <p:nvPr/>
        </p:nvSpPr>
        <p:spPr>
          <a:xfrm>
            <a:off x="508000" y="635000"/>
            <a:ext cx="609600" cy="381000"/>
          </a:xfrm>
          <a:prstGeom prst="roundRect">
            <a:avLst>
              <a:gd name="adj" fmla="val 114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Almuhib Solar Energy logo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609600" cy="38100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1320800" y="658918"/>
            <a:ext cx="55372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WHAT'S INCLUDED · 1/2</a:t>
            </a:r>
          </a:p>
        </p:txBody>
      </p:sp>
      <p:sp>
        <p:nvSpPr>
          <p:cNvPr id="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rogress rail fill"/>
          <p:cNvSpPr/>
          <p:nvPr/>
        </p:nvSpPr>
        <p:spPr>
          <a:xfrm>
            <a:off x="6540500" y="635000"/>
            <a:ext cx="38100" cy="42007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Progress dot glow 2.1x"/>
          <p:cNvSpPr/>
          <p:nvPr/>
        </p:nvSpPr>
        <p:spPr>
          <a:xfrm>
            <a:off x="6456426" y="4732645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rogress dot glow 1.55x"/>
          <p:cNvSpPr/>
          <p:nvPr/>
        </p:nvSpPr>
        <p:spPr>
          <a:xfrm>
            <a:off x="6483434" y="4759653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rogress dot"/>
          <p:cNvSpPr/>
          <p:nvPr/>
        </p:nvSpPr>
        <p:spPr>
          <a:xfrm>
            <a:off x="6510443" y="4786662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Page number"/>
          <p:cNvSpPr txBox="1"/>
          <p:nvPr/>
        </p:nvSpPr>
        <p:spPr>
          <a:xfrm>
            <a:off x="5566833" y="4673844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6B8279"/>
                </a:solidFill>
                <a:latin typeface="Arial"/>
              </a:rPr>
              <a:t>05</a:t>
            </a:r>
          </a:p>
        </p:txBody>
      </p:sp>
      <p:sp>
        <p:nvSpPr>
          <p:cNvPr id="12" name="Headline"/>
          <p:cNvSpPr txBox="1"/>
          <p:nvPr/>
        </p:nvSpPr>
        <p:spPr>
          <a:xfrm>
            <a:off x="508000" y="1236450"/>
            <a:ext cx="5926666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spc="-25">
                <a:solidFill>
                  <a:srgbClr val="06251C"/>
                </a:solidFill>
                <a:latin typeface="Arial"/>
              </a:rPr>
              <a:t>What's included</a:t>
            </a:r>
          </a:p>
        </p:txBody>
      </p:sp>
      <p:pic>
        <p:nvPicPr>
          <p:cNvPr id="13" name="Permits and approvals icon tile" descr="icon_p05_perm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2019300"/>
            <a:ext cx="723900" cy="723900"/>
          </a:xfrm>
          <a:prstGeom prst="rect">
            <a:avLst/>
          </a:prstGeom>
        </p:spPr>
      </p:pic>
      <p:sp>
        <p:nvSpPr>
          <p:cNvPr id="14" name="Permits and approvals heading"/>
          <p:cNvSpPr txBox="1"/>
          <p:nvPr/>
        </p:nvSpPr>
        <p:spPr>
          <a:xfrm>
            <a:off x="1435100" y="1962996"/>
            <a:ext cx="46609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Permits and approvals</a:t>
            </a:r>
          </a:p>
        </p:txBody>
      </p:sp>
      <p:sp>
        <p:nvSpPr>
          <p:cNvPr id="15" name="Permits and approvals line 1"/>
          <p:cNvSpPr txBox="1"/>
          <p:nvPr/>
        </p:nvSpPr>
        <p:spPr>
          <a:xfrm>
            <a:off x="1435100" y="2333413"/>
            <a:ext cx="4741333" cy="6468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DEWA, ADDC, SEWA or Etihad WE, whichever</a:t>
            </a:r>
          </a:p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applies</a:t>
            </a:r>
          </a:p>
        </p:txBody>
      </p:sp>
      <p:sp>
        <p:nvSpPr>
          <p:cNvPr id="16" name="Permits and approvals line 2"/>
          <p:cNvSpPr txBox="1"/>
          <p:nvPr/>
        </p:nvSpPr>
        <p:spPr>
          <a:xfrm>
            <a:off x="1435100" y="2917189"/>
            <a:ext cx="4741333" cy="374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Community and master developer approvals</a:t>
            </a:r>
          </a:p>
        </p:txBody>
      </p:sp>
      <p:sp>
        <p:nvSpPr>
          <p:cNvPr id="17" name="Permits and approvals line 3"/>
          <p:cNvSpPr txBox="1"/>
          <p:nvPr/>
        </p:nvSpPr>
        <p:spPr>
          <a:xfrm>
            <a:off x="1435100" y="3228339"/>
            <a:ext cx="4741333" cy="374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Drawings, applications and final inspection</a:t>
            </a:r>
          </a:p>
        </p:txBody>
      </p:sp>
      <p:pic>
        <p:nvPicPr>
          <p:cNvPr id="18" name="Solar panels icon tile" descr="icon_p05_pan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4953000"/>
            <a:ext cx="723900" cy="723900"/>
          </a:xfrm>
          <a:prstGeom prst="rect">
            <a:avLst/>
          </a:prstGeom>
        </p:spPr>
      </p:pic>
      <p:sp>
        <p:nvSpPr>
          <p:cNvPr id="19" name="Solar panels heading"/>
          <p:cNvSpPr txBox="1"/>
          <p:nvPr/>
        </p:nvSpPr>
        <p:spPr>
          <a:xfrm>
            <a:off x="1435100" y="4896696"/>
            <a:ext cx="46609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Solar panels</a:t>
            </a:r>
          </a:p>
        </p:txBody>
      </p:sp>
      <p:sp>
        <p:nvSpPr>
          <p:cNvPr id="20" name="Solar panels line 1"/>
          <p:cNvSpPr txBox="1"/>
          <p:nvPr/>
        </p:nvSpPr>
        <p:spPr>
          <a:xfrm>
            <a:off x="1435100" y="5267113"/>
            <a:ext cx="4741333" cy="374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Jinko, JA Solar or JCL, 700 W bifacial N-type</a:t>
            </a:r>
          </a:p>
        </p:txBody>
      </p:sp>
      <p:sp>
        <p:nvSpPr>
          <p:cNvPr id="21" name="Solar panels line 2"/>
          <p:cNvSpPr txBox="1"/>
          <p:nvPr/>
        </p:nvSpPr>
        <p:spPr>
          <a:xfrm>
            <a:off x="1435100" y="5578263"/>
            <a:ext cx="4741333" cy="374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25-year performance warranty</a:t>
            </a:r>
          </a:p>
        </p:txBody>
      </p:sp>
      <p:sp>
        <p:nvSpPr>
          <p:cNvPr id="22" name="Solar panels line 3"/>
          <p:cNvSpPr txBox="1"/>
          <p:nvPr/>
        </p:nvSpPr>
        <p:spPr>
          <a:xfrm>
            <a:off x="1435100" y="5889413"/>
            <a:ext cx="4741333" cy="374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Rated for salt mist and abrasive dust</a:t>
            </a:r>
          </a:p>
        </p:txBody>
      </p:sp>
      <p:pic>
        <p:nvPicPr>
          <p:cNvPr id="23" name="Inverter icon tile" descr="icon_p05_inver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7607300"/>
            <a:ext cx="723900" cy="723900"/>
          </a:xfrm>
          <a:prstGeom prst="rect">
            <a:avLst/>
          </a:prstGeom>
        </p:spPr>
      </p:pic>
      <p:sp>
        <p:nvSpPr>
          <p:cNvPr id="24" name="Inverter heading"/>
          <p:cNvSpPr txBox="1"/>
          <p:nvPr/>
        </p:nvSpPr>
        <p:spPr>
          <a:xfrm>
            <a:off x="1435100" y="7550996"/>
            <a:ext cx="46609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Inverter</a:t>
            </a:r>
          </a:p>
        </p:txBody>
      </p:sp>
      <p:sp>
        <p:nvSpPr>
          <p:cNvPr id="25" name="Inverter line 1"/>
          <p:cNvSpPr txBox="1"/>
          <p:nvPr/>
        </p:nvSpPr>
        <p:spPr>
          <a:xfrm>
            <a:off x="1435100" y="7921413"/>
            <a:ext cx="4741333" cy="374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Deye on-grid or hybrid inverter</a:t>
            </a:r>
          </a:p>
        </p:txBody>
      </p:sp>
      <p:sp>
        <p:nvSpPr>
          <p:cNvPr id="26" name="Inverter line 2"/>
          <p:cNvSpPr txBox="1"/>
          <p:nvPr/>
        </p:nvSpPr>
        <p:spPr>
          <a:xfrm>
            <a:off x="1435100" y="8232563"/>
            <a:ext cx="4741333" cy="374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10-year warranty</a:t>
            </a:r>
          </a:p>
        </p:txBody>
      </p:sp>
      <p:sp>
        <p:nvSpPr>
          <p:cNvPr id="27" name="Inverter line 3"/>
          <p:cNvSpPr txBox="1"/>
          <p:nvPr/>
        </p:nvSpPr>
        <p:spPr>
          <a:xfrm>
            <a:off x="1435100" y="8543713"/>
            <a:ext cx="4741333" cy="374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Active cooling, holds output through peak heat</a:t>
            </a:r>
          </a:p>
        </p:txBody>
      </p:sp>
      <p:pic>
        <p:nvPicPr>
          <p:cNvPr id="28" name="Battery storage icon tile" descr="icon_p05_batte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" y="10261600"/>
            <a:ext cx="723900" cy="723900"/>
          </a:xfrm>
          <a:prstGeom prst="rect">
            <a:avLst/>
          </a:prstGeom>
        </p:spPr>
      </p:pic>
      <p:sp>
        <p:nvSpPr>
          <p:cNvPr id="29" name="Battery storage heading"/>
          <p:cNvSpPr txBox="1"/>
          <p:nvPr/>
        </p:nvSpPr>
        <p:spPr>
          <a:xfrm>
            <a:off x="1435100" y="10205296"/>
            <a:ext cx="46609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Battery storage</a:t>
            </a:r>
          </a:p>
        </p:txBody>
      </p:sp>
      <p:sp>
        <p:nvSpPr>
          <p:cNvPr id="30" name="Battery storage line 1"/>
          <p:cNvSpPr txBox="1"/>
          <p:nvPr/>
        </p:nvSpPr>
        <p:spPr>
          <a:xfrm>
            <a:off x="1435100" y="10575713"/>
            <a:ext cx="4741333" cy="374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LFP high-voltage cells</a:t>
            </a:r>
          </a:p>
        </p:txBody>
      </p:sp>
      <p:sp>
        <p:nvSpPr>
          <p:cNvPr id="31" name="Battery storage line 2"/>
          <p:cNvSpPr txBox="1"/>
          <p:nvPr/>
        </p:nvSpPr>
        <p:spPr>
          <a:xfrm>
            <a:off x="1435100" y="10886863"/>
            <a:ext cx="4741333" cy="374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10-year warranty</a:t>
            </a:r>
          </a:p>
        </p:txBody>
      </p:sp>
      <p:sp>
        <p:nvSpPr>
          <p:cNvPr id="32" name="Battery storage line 3"/>
          <p:cNvSpPr txBox="1"/>
          <p:nvPr/>
        </p:nvSpPr>
        <p:spPr>
          <a:xfrm>
            <a:off x="1435100" y="11198013"/>
            <a:ext cx="4741333" cy="374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46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Aerosol fire suppression inside the cabinet</a:t>
            </a:r>
          </a:p>
        </p:txBody>
      </p:sp>
      <p:sp>
        <p:nvSpPr>
          <p:cNvPr id="33" name="Group divider 1"/>
          <p:cNvSpPr/>
          <p:nvPr/>
        </p:nvSpPr>
        <p:spPr>
          <a:xfrm>
            <a:off x="508000" y="4260850"/>
            <a:ext cx="55880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Group divider 2"/>
          <p:cNvSpPr/>
          <p:nvPr/>
        </p:nvSpPr>
        <p:spPr>
          <a:xfrm>
            <a:off x="508000" y="6921500"/>
            <a:ext cx="55880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Group divider 3"/>
          <p:cNvSpPr/>
          <p:nvPr/>
        </p:nvSpPr>
        <p:spPr>
          <a:xfrm>
            <a:off x="508000" y="9575800"/>
            <a:ext cx="55880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Logo panel"/>
          <p:cNvSpPr/>
          <p:nvPr/>
        </p:nvSpPr>
        <p:spPr>
          <a:xfrm>
            <a:off x="508000" y="635000"/>
            <a:ext cx="609600" cy="381000"/>
          </a:xfrm>
          <a:prstGeom prst="roundRect">
            <a:avLst>
              <a:gd name="adj" fmla="val 114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Almuhib Solar Energy logo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609600" cy="38100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1320800" y="658918"/>
            <a:ext cx="55372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WHAT'S INCLUDED · 2/2</a:t>
            </a:r>
          </a:p>
        </p:txBody>
      </p:sp>
      <p:sp>
        <p:nvSpPr>
          <p:cNvPr id="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rogress rail fill"/>
          <p:cNvSpPr/>
          <p:nvPr/>
        </p:nvSpPr>
        <p:spPr>
          <a:xfrm>
            <a:off x="6540500" y="635000"/>
            <a:ext cx="38100" cy="5040923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Progress dot glow 2.1x"/>
          <p:cNvSpPr/>
          <p:nvPr/>
        </p:nvSpPr>
        <p:spPr>
          <a:xfrm>
            <a:off x="6456426" y="5572799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rogress dot glow 1.55x"/>
          <p:cNvSpPr/>
          <p:nvPr/>
        </p:nvSpPr>
        <p:spPr>
          <a:xfrm>
            <a:off x="6483434" y="5599807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rogress dot"/>
          <p:cNvSpPr/>
          <p:nvPr/>
        </p:nvSpPr>
        <p:spPr>
          <a:xfrm>
            <a:off x="6510443" y="5626816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Page number"/>
          <p:cNvSpPr txBox="1"/>
          <p:nvPr/>
        </p:nvSpPr>
        <p:spPr>
          <a:xfrm>
            <a:off x="5566833" y="5513998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6B8279"/>
                </a:solidFill>
                <a:latin typeface="Arial"/>
              </a:rPr>
              <a:t>06</a:t>
            </a:r>
          </a:p>
        </p:txBody>
      </p:sp>
      <p:sp>
        <p:nvSpPr>
          <p:cNvPr id="12" name="Headline"/>
          <p:cNvSpPr txBox="1"/>
          <p:nvPr/>
        </p:nvSpPr>
        <p:spPr>
          <a:xfrm>
            <a:off x="508000" y="1254230"/>
            <a:ext cx="5926666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spc="-25">
                <a:solidFill>
                  <a:srgbClr val="06251C"/>
                </a:solidFill>
                <a:latin typeface="Arial"/>
              </a:rPr>
              <a:t>What's included</a:t>
            </a:r>
          </a:p>
        </p:txBody>
      </p:sp>
      <p:sp>
        <p:nvSpPr>
          <p:cNvPr id="13" name="Mounting structures tile"/>
          <p:cNvSpPr/>
          <p:nvPr/>
        </p:nvSpPr>
        <p:spPr>
          <a:xfrm>
            <a:off x="508000" y="201930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Mounting structures icon" descr="icon_p06_moun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" y="2203450"/>
            <a:ext cx="355600" cy="355600"/>
          </a:xfrm>
          <a:prstGeom prst="rect">
            <a:avLst/>
          </a:prstGeom>
        </p:spPr>
      </p:pic>
      <p:sp>
        <p:nvSpPr>
          <p:cNvPr id="15" name="Mounting structures heading"/>
          <p:cNvSpPr txBox="1"/>
          <p:nvPr/>
        </p:nvSpPr>
        <p:spPr>
          <a:xfrm>
            <a:off x="1435100" y="1962996"/>
            <a:ext cx="51689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Mounting structures</a:t>
            </a:r>
          </a:p>
        </p:txBody>
      </p:sp>
      <p:sp>
        <p:nvSpPr>
          <p:cNvPr id="16" name="Mounting structures body"/>
          <p:cNvSpPr txBox="1"/>
          <p:nvPr/>
        </p:nvSpPr>
        <p:spPr>
          <a:xfrm>
            <a:off x="1435100" y="2303991"/>
            <a:ext cx="5168900" cy="1035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5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Aluminium 6063 T6, anodized</a:t>
            </a:r>
          </a:p>
          <a:p>
            <a:pPr algn="l">
              <a:lnSpc>
                <a:spcPts val="245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10-year product warranty</a:t>
            </a:r>
          </a:p>
          <a:p>
            <a:pPr algn="l">
              <a:lnSpc>
                <a:spcPts val="245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Flat roof, tile roof or carport frames</a:t>
            </a:r>
          </a:p>
        </p:txBody>
      </p:sp>
      <p:sp>
        <p:nvSpPr>
          <p:cNvPr id="17" name="Rule below mounting structures"/>
          <p:cNvSpPr/>
          <p:nvPr/>
        </p:nvSpPr>
        <p:spPr>
          <a:xfrm>
            <a:off x="508000" y="3733800"/>
            <a:ext cx="55880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Switchgear and connection tile"/>
          <p:cNvSpPr/>
          <p:nvPr/>
        </p:nvSpPr>
        <p:spPr>
          <a:xfrm>
            <a:off x="508000" y="416560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Switchgear and connection icon" descr="icon_p06_switch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150" y="4349750"/>
            <a:ext cx="355600" cy="355600"/>
          </a:xfrm>
          <a:prstGeom prst="rect">
            <a:avLst/>
          </a:prstGeom>
        </p:spPr>
      </p:pic>
      <p:sp>
        <p:nvSpPr>
          <p:cNvPr id="20" name="Switchgear and connection heading"/>
          <p:cNvSpPr txBox="1"/>
          <p:nvPr/>
        </p:nvSpPr>
        <p:spPr>
          <a:xfrm>
            <a:off x="1435100" y="4109296"/>
            <a:ext cx="51689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Switchgear and connection</a:t>
            </a:r>
          </a:p>
        </p:txBody>
      </p:sp>
      <p:sp>
        <p:nvSpPr>
          <p:cNvPr id="21" name="Switchgear and connection body"/>
          <p:cNvSpPr txBox="1"/>
          <p:nvPr/>
        </p:nvSpPr>
        <p:spPr>
          <a:xfrm>
            <a:off x="1435100" y="4450291"/>
            <a:ext cx="5168900" cy="1035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5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ABB, Schneider or Eaton components</a:t>
            </a:r>
          </a:p>
          <a:p>
            <a:pPr algn="l">
              <a:lnSpc>
                <a:spcPts val="245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Fully compliant with utility regulations</a:t>
            </a:r>
          </a:p>
          <a:p>
            <a:pPr algn="l">
              <a:lnSpc>
                <a:spcPts val="245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Smart bidirectional meter installed</a:t>
            </a:r>
          </a:p>
        </p:txBody>
      </p:sp>
      <p:sp>
        <p:nvSpPr>
          <p:cNvPr id="22" name="Rule below switchgear and connection"/>
          <p:cNvSpPr/>
          <p:nvPr/>
        </p:nvSpPr>
        <p:spPr>
          <a:xfrm>
            <a:off x="508000" y="5880100"/>
            <a:ext cx="55880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Installation and workmanship tile"/>
          <p:cNvSpPr/>
          <p:nvPr/>
        </p:nvSpPr>
        <p:spPr>
          <a:xfrm>
            <a:off x="508000" y="631190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Installation and workmanship icon" descr="icon_p06_install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150" y="6496050"/>
            <a:ext cx="355600" cy="355600"/>
          </a:xfrm>
          <a:prstGeom prst="rect">
            <a:avLst/>
          </a:prstGeom>
        </p:spPr>
      </p:pic>
      <p:sp>
        <p:nvSpPr>
          <p:cNvPr id="25" name="Installation and workmanship heading"/>
          <p:cNvSpPr txBox="1"/>
          <p:nvPr/>
        </p:nvSpPr>
        <p:spPr>
          <a:xfrm>
            <a:off x="1435100" y="6255596"/>
            <a:ext cx="51689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6251C"/>
                </a:solidFill>
                <a:latin typeface="Arial"/>
              </a:rPr>
              <a:t>Installation and workmanship</a:t>
            </a:r>
          </a:p>
        </p:txBody>
      </p:sp>
      <p:sp>
        <p:nvSpPr>
          <p:cNvPr id="26" name="Installation and workmanship body"/>
          <p:cNvSpPr txBox="1"/>
          <p:nvPr/>
        </p:nvSpPr>
        <p:spPr>
          <a:xfrm>
            <a:off x="1435100" y="6596591"/>
            <a:ext cx="5168900" cy="1035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5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Our own in-house mechanical and electrical teams</a:t>
            </a:r>
          </a:p>
          <a:p>
            <a:pPr algn="l">
              <a:lnSpc>
                <a:spcPts val="245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Crane lifting and scaffolding included</a:t>
            </a:r>
          </a:p>
          <a:p>
            <a:pPr algn="l">
              <a:lnSpc>
                <a:spcPts val="245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Testing, commissioning and handover</a:t>
            </a:r>
          </a:p>
        </p:txBody>
      </p:sp>
      <p:sp>
        <p:nvSpPr>
          <p:cNvPr id="27" name="Rule below installation and workmanship"/>
          <p:cNvSpPr/>
          <p:nvPr/>
        </p:nvSpPr>
        <p:spPr>
          <a:xfrm>
            <a:off x="508000" y="8026400"/>
            <a:ext cx="55880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Energy path label"/>
          <p:cNvSpPr txBox="1"/>
          <p:nvPr/>
        </p:nvSpPr>
        <p:spPr>
          <a:xfrm>
            <a:off x="508000" y="8393218"/>
            <a:ext cx="338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ENERGY PATH</a:t>
            </a:r>
          </a:p>
        </p:txBody>
      </p:sp>
      <p:cxnSp>
        <p:nvCxnSpPr>
          <p:cNvPr id="29" name="Connector - sun to array"/>
          <p:cNvCxnSpPr/>
          <p:nvPr/>
        </p:nvCxnSpPr>
        <p:spPr>
          <a:xfrm>
            <a:off x="1397000" y="9309100"/>
            <a:ext cx="679450" cy="0"/>
          </a:xfrm>
          <a:prstGeom prst="line">
            <a:avLst/>
          </a:prstGeom>
          <a:ln w="12700">
            <a:solidFill>
              <a:srgbClr val="12A06B"/>
            </a:solidFill>
            <a:prstDash val="dash"/>
          </a:ln>
        </p:spPr>
      </p:cxnSp>
      <p:cxnSp>
        <p:nvCxnSpPr>
          <p:cNvPr id="30" name="Connector - array to inverter"/>
          <p:cNvCxnSpPr/>
          <p:nvPr/>
        </p:nvCxnSpPr>
        <p:spPr>
          <a:xfrm>
            <a:off x="2965450" y="9309100"/>
            <a:ext cx="673100" cy="0"/>
          </a:xfrm>
          <a:prstGeom prst="line">
            <a:avLst/>
          </a:prstGeom>
          <a:ln w="12700">
            <a:solidFill>
              <a:srgbClr val="12A06B"/>
            </a:solidFill>
            <a:prstDash val="dash"/>
          </a:ln>
        </p:spPr>
      </p:cxnSp>
      <p:cxnSp>
        <p:nvCxnSpPr>
          <p:cNvPr id="31" name="Connector - inverter to villa"/>
          <p:cNvCxnSpPr/>
          <p:nvPr/>
        </p:nvCxnSpPr>
        <p:spPr>
          <a:xfrm>
            <a:off x="4527550" y="9309100"/>
            <a:ext cx="679450" cy="0"/>
          </a:xfrm>
          <a:prstGeom prst="line">
            <a:avLst/>
          </a:prstGeom>
          <a:ln w="12700">
            <a:solidFill>
              <a:srgbClr val="12A06B"/>
            </a:solidFill>
            <a:prstDash val="dash"/>
          </a:ln>
        </p:spPr>
      </p:cxnSp>
      <p:cxnSp>
        <p:nvCxnSpPr>
          <p:cNvPr id="32" name="Connector - inverter to battery"/>
          <p:cNvCxnSpPr/>
          <p:nvPr/>
        </p:nvCxnSpPr>
        <p:spPr>
          <a:xfrm>
            <a:off x="4083050" y="9753600"/>
            <a:ext cx="0" cy="584200"/>
          </a:xfrm>
          <a:prstGeom prst="line">
            <a:avLst/>
          </a:prstGeom>
          <a:ln w="12700">
            <a:solidFill>
              <a:srgbClr val="12A06B"/>
            </a:solidFill>
            <a:prstDash val="dash"/>
          </a:ln>
        </p:spPr>
      </p:cxnSp>
      <p:sp>
        <p:nvSpPr>
          <p:cNvPr id="33" name="Sun ring"/>
          <p:cNvSpPr/>
          <p:nvPr/>
        </p:nvSpPr>
        <p:spPr>
          <a:xfrm>
            <a:off x="516466" y="8873066"/>
            <a:ext cx="872066" cy="872066"/>
          </a:xfrm>
          <a:prstGeom prst="ellipse">
            <a:avLst/>
          </a:prstGeom>
          <a:noFill/>
          <a:ln w="12700">
            <a:solidFill>
              <a:srgbClr val="E2EFE7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Sun tile"/>
          <p:cNvSpPr/>
          <p:nvPr/>
        </p:nvSpPr>
        <p:spPr>
          <a:xfrm>
            <a:off x="590550" y="894715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Sun icon" descr="icon_p06_su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700" y="9131300"/>
            <a:ext cx="355600" cy="355600"/>
          </a:xfrm>
          <a:prstGeom prst="rect">
            <a:avLst/>
          </a:prstGeom>
        </p:spPr>
      </p:pic>
      <p:sp>
        <p:nvSpPr>
          <p:cNvPr id="36" name="Sun caption"/>
          <p:cNvSpPr txBox="1"/>
          <p:nvPr/>
        </p:nvSpPr>
        <p:spPr>
          <a:xfrm>
            <a:off x="794173" y="9790218"/>
            <a:ext cx="1693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06251C"/>
                </a:solidFill>
                <a:latin typeface="Arial"/>
              </a:rPr>
              <a:t>Sun</a:t>
            </a:r>
          </a:p>
        </p:txBody>
      </p:sp>
      <p:sp>
        <p:nvSpPr>
          <p:cNvPr id="37" name="Array ring"/>
          <p:cNvSpPr/>
          <p:nvPr/>
        </p:nvSpPr>
        <p:spPr>
          <a:xfrm>
            <a:off x="2084916" y="8873066"/>
            <a:ext cx="872066" cy="872066"/>
          </a:xfrm>
          <a:prstGeom prst="ellipse">
            <a:avLst/>
          </a:prstGeom>
          <a:noFill/>
          <a:ln w="12700">
            <a:solidFill>
              <a:srgbClr val="E2EFE7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Array tile"/>
          <p:cNvSpPr/>
          <p:nvPr/>
        </p:nvSpPr>
        <p:spPr>
          <a:xfrm>
            <a:off x="2159000" y="894715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9" name="Array icon" descr="icon_p06_arra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43150" y="9131300"/>
            <a:ext cx="355600" cy="355600"/>
          </a:xfrm>
          <a:prstGeom prst="rect">
            <a:avLst/>
          </a:prstGeom>
        </p:spPr>
      </p:pic>
      <p:sp>
        <p:nvSpPr>
          <p:cNvPr id="40" name="Array caption"/>
          <p:cNvSpPr txBox="1"/>
          <p:nvPr/>
        </p:nvSpPr>
        <p:spPr>
          <a:xfrm>
            <a:off x="2308860" y="9790218"/>
            <a:ext cx="1693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06251C"/>
                </a:solidFill>
                <a:latin typeface="Arial"/>
              </a:rPr>
              <a:t>Array</a:t>
            </a:r>
          </a:p>
        </p:txBody>
      </p:sp>
      <p:sp>
        <p:nvSpPr>
          <p:cNvPr id="41" name="Inverter ring"/>
          <p:cNvSpPr/>
          <p:nvPr/>
        </p:nvSpPr>
        <p:spPr>
          <a:xfrm>
            <a:off x="3647016" y="8873066"/>
            <a:ext cx="872066" cy="872066"/>
          </a:xfrm>
          <a:prstGeom prst="ellipse">
            <a:avLst/>
          </a:prstGeom>
          <a:noFill/>
          <a:ln w="12700">
            <a:solidFill>
              <a:srgbClr val="E2EFE7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Inverter tile"/>
          <p:cNvSpPr/>
          <p:nvPr/>
        </p:nvSpPr>
        <p:spPr>
          <a:xfrm>
            <a:off x="3721100" y="894715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Inverter icon" descr="icon_p06_invert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05250" y="9131300"/>
            <a:ext cx="355600" cy="355600"/>
          </a:xfrm>
          <a:prstGeom prst="rect">
            <a:avLst/>
          </a:prstGeom>
        </p:spPr>
      </p:pic>
      <p:sp>
        <p:nvSpPr>
          <p:cNvPr id="44" name="Inverter caption"/>
          <p:cNvSpPr txBox="1"/>
          <p:nvPr/>
        </p:nvSpPr>
        <p:spPr>
          <a:xfrm>
            <a:off x="3781213" y="9790218"/>
            <a:ext cx="1693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06251C"/>
                </a:solidFill>
                <a:latin typeface="Arial"/>
              </a:rPr>
              <a:t>Inverter</a:t>
            </a:r>
          </a:p>
        </p:txBody>
      </p:sp>
      <p:sp>
        <p:nvSpPr>
          <p:cNvPr id="45" name="Villa ring"/>
          <p:cNvSpPr/>
          <p:nvPr/>
        </p:nvSpPr>
        <p:spPr>
          <a:xfrm>
            <a:off x="5215466" y="8873066"/>
            <a:ext cx="872066" cy="872066"/>
          </a:xfrm>
          <a:prstGeom prst="ellipse">
            <a:avLst/>
          </a:prstGeom>
          <a:noFill/>
          <a:ln w="12700">
            <a:solidFill>
              <a:srgbClr val="E2EFE7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Villa tile"/>
          <p:cNvSpPr/>
          <p:nvPr/>
        </p:nvSpPr>
        <p:spPr>
          <a:xfrm>
            <a:off x="5289550" y="894715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Villa icon" descr="icon_p06_vill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73700" y="9131300"/>
            <a:ext cx="355600" cy="355600"/>
          </a:xfrm>
          <a:prstGeom prst="rect">
            <a:avLst/>
          </a:prstGeom>
        </p:spPr>
      </p:pic>
      <p:sp>
        <p:nvSpPr>
          <p:cNvPr id="48" name="Villa caption"/>
          <p:cNvSpPr txBox="1"/>
          <p:nvPr/>
        </p:nvSpPr>
        <p:spPr>
          <a:xfrm>
            <a:off x="5484706" y="9790218"/>
            <a:ext cx="1693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06251C"/>
                </a:solidFill>
                <a:latin typeface="Arial"/>
              </a:rPr>
              <a:t>Villa</a:t>
            </a:r>
          </a:p>
        </p:txBody>
      </p:sp>
      <p:sp>
        <p:nvSpPr>
          <p:cNvPr id="49" name="Battery ring"/>
          <p:cNvSpPr/>
          <p:nvPr/>
        </p:nvSpPr>
        <p:spPr>
          <a:xfrm>
            <a:off x="3647016" y="10346266"/>
            <a:ext cx="872066" cy="872066"/>
          </a:xfrm>
          <a:prstGeom prst="ellipse">
            <a:avLst/>
          </a:prstGeom>
          <a:noFill/>
          <a:ln w="12700">
            <a:solidFill>
              <a:srgbClr val="E2EFE7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attery tile"/>
          <p:cNvSpPr/>
          <p:nvPr/>
        </p:nvSpPr>
        <p:spPr>
          <a:xfrm>
            <a:off x="3721100" y="1042035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1" name="Battery icon" descr="icon_p06_batter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05250" y="10604500"/>
            <a:ext cx="355600" cy="355600"/>
          </a:xfrm>
          <a:prstGeom prst="rect">
            <a:avLst/>
          </a:prstGeom>
        </p:spPr>
      </p:pic>
      <p:sp>
        <p:nvSpPr>
          <p:cNvPr id="52" name="Battery caption"/>
          <p:cNvSpPr txBox="1"/>
          <p:nvPr/>
        </p:nvSpPr>
        <p:spPr>
          <a:xfrm>
            <a:off x="3801533" y="11263418"/>
            <a:ext cx="1693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06251C"/>
                </a:solidFill>
                <a:latin typeface="Arial"/>
              </a:rPr>
              <a:t>Battery</a:t>
            </a:r>
          </a:p>
        </p:txBody>
      </p:sp>
      <p:sp>
        <p:nvSpPr>
          <p:cNvPr id="53" name="Flow label - DC"/>
          <p:cNvSpPr txBox="1"/>
          <p:nvPr/>
        </p:nvSpPr>
        <p:spPr>
          <a:xfrm>
            <a:off x="3173306" y="8964718"/>
            <a:ext cx="1693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8279"/>
                </a:solidFill>
                <a:latin typeface="Arial"/>
              </a:rPr>
              <a:t>DC</a:t>
            </a:r>
          </a:p>
        </p:txBody>
      </p:sp>
      <p:sp>
        <p:nvSpPr>
          <p:cNvPr id="54" name="Flow label - AC"/>
          <p:cNvSpPr txBox="1"/>
          <p:nvPr/>
        </p:nvSpPr>
        <p:spPr>
          <a:xfrm>
            <a:off x="4743873" y="8964718"/>
            <a:ext cx="1693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8279"/>
                </a:solidFill>
                <a:latin typeface="Arial"/>
              </a:rPr>
              <a:t>AC</a:t>
            </a:r>
          </a:p>
        </p:txBody>
      </p:sp>
      <p:sp>
        <p:nvSpPr>
          <p:cNvPr id="55" name="Flow label - stored DC"/>
          <p:cNvSpPr txBox="1"/>
          <p:nvPr/>
        </p:nvSpPr>
        <p:spPr>
          <a:xfrm>
            <a:off x="4203700" y="10095018"/>
            <a:ext cx="1693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8279"/>
                </a:solidFill>
                <a:latin typeface="Arial"/>
              </a:rPr>
              <a:t>stored DC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Logo panel"/>
          <p:cNvSpPr/>
          <p:nvPr/>
        </p:nvSpPr>
        <p:spPr>
          <a:xfrm>
            <a:off x="508000" y="635000"/>
            <a:ext cx="609600" cy="381000"/>
          </a:xfrm>
          <a:prstGeom prst="roundRect">
            <a:avLst>
              <a:gd name="adj" fmla="val 114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Almuhib Solar Energy logo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609600" cy="38100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1320800" y="658918"/>
            <a:ext cx="55372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NUMBERS</a:t>
            </a:r>
          </a:p>
        </p:txBody>
      </p:sp>
      <p:sp>
        <p:nvSpPr>
          <p:cNvPr id="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rogress rail fill"/>
          <p:cNvSpPr/>
          <p:nvPr/>
        </p:nvSpPr>
        <p:spPr>
          <a:xfrm>
            <a:off x="6540500" y="635000"/>
            <a:ext cx="38100" cy="588107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Progress dot glow 2.1x"/>
          <p:cNvSpPr/>
          <p:nvPr/>
        </p:nvSpPr>
        <p:spPr>
          <a:xfrm>
            <a:off x="6456426" y="6412952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rogress dot glow 1.55x"/>
          <p:cNvSpPr/>
          <p:nvPr/>
        </p:nvSpPr>
        <p:spPr>
          <a:xfrm>
            <a:off x="6483434" y="6439961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rogress dot"/>
          <p:cNvSpPr/>
          <p:nvPr/>
        </p:nvSpPr>
        <p:spPr>
          <a:xfrm>
            <a:off x="6510443" y="6466970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Page number"/>
          <p:cNvSpPr txBox="1"/>
          <p:nvPr/>
        </p:nvSpPr>
        <p:spPr>
          <a:xfrm>
            <a:off x="5566833" y="6354151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6B8279"/>
                </a:solidFill>
                <a:latin typeface="Arial"/>
              </a:rPr>
              <a:t>07</a:t>
            </a:r>
          </a:p>
        </p:txBody>
      </p:sp>
      <p:sp>
        <p:nvSpPr>
          <p:cNvPr id="12" name="Headline"/>
          <p:cNvSpPr txBox="1"/>
          <p:nvPr/>
        </p:nvSpPr>
        <p:spPr>
          <a:xfrm>
            <a:off x="508000" y="1254230"/>
            <a:ext cx="5926666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spc="-25">
                <a:solidFill>
                  <a:srgbClr val="06251C"/>
                </a:solidFill>
                <a:latin typeface="Arial"/>
              </a:rPr>
              <a:t>Financial analysis</a:t>
            </a:r>
          </a:p>
        </p:txBody>
      </p:sp>
      <p:sp>
        <p:nvSpPr>
          <p:cNvPr id="13" name="Metric card 1"/>
          <p:cNvSpPr/>
          <p:nvPr/>
        </p:nvSpPr>
        <p:spPr>
          <a:xfrm>
            <a:off x="508000" y="2019300"/>
            <a:ext cx="1759373" cy="1645073"/>
          </a:xfrm>
          <a:prstGeom prst="roundRect">
            <a:avLst>
              <a:gd name="adj" fmla="val 12352"/>
            </a:avLst>
          </a:prstGeom>
          <a:solidFill>
            <a:srgbClr val="0625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Metric card 1 number"/>
          <p:cNvSpPr txBox="1"/>
          <p:nvPr/>
        </p:nvSpPr>
        <p:spPr>
          <a:xfrm>
            <a:off x="736600" y="2128519"/>
            <a:ext cx="1530773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 spc="-150">
                <a:solidFill>
                  <a:srgbClr val="FFFFFF"/>
                </a:solidFill>
                <a:latin typeface="Arial Black"/>
              </a:rPr>
              <a:t>5.5</a:t>
            </a:r>
          </a:p>
        </p:txBody>
      </p:sp>
      <p:sp>
        <p:nvSpPr>
          <p:cNvPr id="15" name="Metric card 1 caption"/>
          <p:cNvSpPr txBox="1"/>
          <p:nvPr/>
        </p:nvSpPr>
        <p:spPr>
          <a:xfrm>
            <a:off x="736600" y="2838873"/>
            <a:ext cx="1869439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9FABA7"/>
                </a:solidFill>
                <a:latin typeface="Arial"/>
              </a:rPr>
              <a:t>years to</a:t>
            </a:r>
          </a:p>
          <a:p>
            <a:pPr algn="l">
              <a:lnSpc>
                <a:spcPts val="2100"/>
              </a:lnSpc>
            </a:pPr>
            <a:r>
              <a:rPr sz="1600" b="0">
                <a:solidFill>
                  <a:srgbClr val="9FABA7"/>
                </a:solidFill>
                <a:latin typeface="Arial"/>
              </a:rPr>
              <a:t>payback</a:t>
            </a:r>
          </a:p>
        </p:txBody>
      </p:sp>
      <p:sp>
        <p:nvSpPr>
          <p:cNvPr id="16" name="Metric card 2"/>
          <p:cNvSpPr/>
          <p:nvPr/>
        </p:nvSpPr>
        <p:spPr>
          <a:xfrm>
            <a:off x="2419773" y="2019300"/>
            <a:ext cx="1764453" cy="1645073"/>
          </a:xfrm>
          <a:prstGeom prst="roundRect">
            <a:avLst>
              <a:gd name="adj" fmla="val 12352"/>
            </a:avLst>
          </a:prstGeom>
          <a:solidFill>
            <a:srgbClr val="0625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etric card 2 number"/>
          <p:cNvSpPr txBox="1"/>
          <p:nvPr/>
        </p:nvSpPr>
        <p:spPr>
          <a:xfrm>
            <a:off x="2650066" y="2128519"/>
            <a:ext cx="1534159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 spc="-150">
                <a:solidFill>
                  <a:srgbClr val="FFFFFF"/>
                </a:solidFill>
                <a:latin typeface="Arial Black"/>
              </a:rPr>
              <a:t>25</a:t>
            </a:r>
          </a:p>
        </p:txBody>
      </p:sp>
      <p:sp>
        <p:nvSpPr>
          <p:cNvPr id="18" name="Metric card 2 caption"/>
          <p:cNvSpPr txBox="1"/>
          <p:nvPr/>
        </p:nvSpPr>
        <p:spPr>
          <a:xfrm>
            <a:off x="2650066" y="2838873"/>
            <a:ext cx="1872826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9FABA7"/>
                </a:solidFill>
                <a:latin typeface="Arial"/>
              </a:rPr>
              <a:t>years of</a:t>
            </a:r>
          </a:p>
          <a:p>
            <a:pPr algn="l">
              <a:lnSpc>
                <a:spcPts val="2100"/>
              </a:lnSpc>
            </a:pPr>
            <a:r>
              <a:rPr sz="1600" b="0">
                <a:solidFill>
                  <a:srgbClr val="9FABA7"/>
                </a:solidFill>
                <a:latin typeface="Arial"/>
              </a:rPr>
              <a:t>service life</a:t>
            </a:r>
          </a:p>
        </p:txBody>
      </p:sp>
      <p:sp>
        <p:nvSpPr>
          <p:cNvPr id="19" name="Metric card 3"/>
          <p:cNvSpPr/>
          <p:nvPr/>
        </p:nvSpPr>
        <p:spPr>
          <a:xfrm>
            <a:off x="4336626" y="2019300"/>
            <a:ext cx="1759373" cy="1645073"/>
          </a:xfrm>
          <a:prstGeom prst="roundRect">
            <a:avLst>
              <a:gd name="adj" fmla="val 12352"/>
            </a:avLst>
          </a:prstGeom>
          <a:solidFill>
            <a:srgbClr val="0625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Metric card 3 number"/>
          <p:cNvSpPr txBox="1"/>
          <p:nvPr/>
        </p:nvSpPr>
        <p:spPr>
          <a:xfrm>
            <a:off x="4563533" y="2128519"/>
            <a:ext cx="1532466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 spc="-150">
                <a:solidFill>
                  <a:srgbClr val="FFFFFF"/>
                </a:solidFill>
                <a:latin typeface="Arial Black"/>
              </a:rPr>
              <a:t>25%</a:t>
            </a:r>
          </a:p>
        </p:txBody>
      </p:sp>
      <p:sp>
        <p:nvSpPr>
          <p:cNvPr id="21" name="Metric card 3 caption"/>
          <p:cNvSpPr txBox="1"/>
          <p:nvPr/>
        </p:nvSpPr>
        <p:spPr>
          <a:xfrm>
            <a:off x="4563533" y="2838873"/>
            <a:ext cx="1871133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9FABA7"/>
                </a:solidFill>
                <a:latin typeface="Arial"/>
              </a:rPr>
              <a:t>return on</a:t>
            </a:r>
          </a:p>
          <a:p>
            <a:pPr algn="l">
              <a:lnSpc>
                <a:spcPts val="2100"/>
              </a:lnSpc>
            </a:pPr>
            <a:r>
              <a:rPr sz="1600" b="0">
                <a:solidFill>
                  <a:srgbClr val="9FABA7"/>
                </a:solidFill>
                <a:latin typeface="Arial"/>
              </a:rPr>
              <a:t>investment</a:t>
            </a:r>
          </a:p>
        </p:txBody>
      </p:sp>
      <p:sp>
        <p:nvSpPr>
          <p:cNvPr id="22" name="System card 1"/>
          <p:cNvSpPr/>
          <p:nvPr/>
        </p:nvSpPr>
        <p:spPr>
          <a:xfrm>
            <a:off x="508000" y="3969173"/>
            <a:ext cx="1689100" cy="1402926"/>
          </a:xfrm>
          <a:prstGeom prst="roundRect">
            <a:avLst>
              <a:gd name="adj" fmla="val 14484"/>
            </a:avLst>
          </a:prstGeom>
          <a:solidFill>
            <a:srgbClr val="F2FB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System card 1 number"/>
          <p:cNvSpPr txBox="1"/>
          <p:nvPr/>
        </p:nvSpPr>
        <p:spPr>
          <a:xfrm>
            <a:off x="736600" y="4101570"/>
            <a:ext cx="1460500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0" spc="-50">
                <a:solidFill>
                  <a:srgbClr val="06251C"/>
                </a:solidFill>
                <a:latin typeface="Arial Black"/>
              </a:rPr>
              <a:t>12 kW</a:t>
            </a:r>
          </a:p>
        </p:txBody>
      </p:sp>
      <p:sp>
        <p:nvSpPr>
          <p:cNvPr id="24" name="System card 1 caption"/>
          <p:cNvSpPr txBox="1"/>
          <p:nvPr/>
        </p:nvSpPr>
        <p:spPr>
          <a:xfrm>
            <a:off x="736600" y="4547446"/>
            <a:ext cx="1799166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system size</a:t>
            </a:r>
          </a:p>
        </p:txBody>
      </p:sp>
      <p:sp>
        <p:nvSpPr>
          <p:cNvPr id="25" name="System card 2"/>
          <p:cNvSpPr/>
          <p:nvPr/>
        </p:nvSpPr>
        <p:spPr>
          <a:xfrm>
            <a:off x="2349500" y="3969173"/>
            <a:ext cx="1695873" cy="1402926"/>
          </a:xfrm>
          <a:prstGeom prst="roundRect">
            <a:avLst>
              <a:gd name="adj" fmla="val 14484"/>
            </a:avLst>
          </a:prstGeom>
          <a:solidFill>
            <a:srgbClr val="F2FB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System card 2 number"/>
          <p:cNvSpPr txBox="1"/>
          <p:nvPr/>
        </p:nvSpPr>
        <p:spPr>
          <a:xfrm>
            <a:off x="2580640" y="4101570"/>
            <a:ext cx="1464733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0" spc="-50">
                <a:solidFill>
                  <a:srgbClr val="06251C"/>
                </a:solidFill>
                <a:latin typeface="Arial Black"/>
              </a:rPr>
              <a:t>84%</a:t>
            </a:r>
          </a:p>
        </p:txBody>
      </p:sp>
      <p:sp>
        <p:nvSpPr>
          <p:cNvPr id="27" name="System card 2 caption"/>
          <p:cNvSpPr txBox="1"/>
          <p:nvPr/>
        </p:nvSpPr>
        <p:spPr>
          <a:xfrm>
            <a:off x="2580640" y="4547446"/>
            <a:ext cx="1803400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of your home</a:t>
            </a:r>
          </a:p>
          <a:p>
            <a:pPr algn="l">
              <a:lnSpc>
                <a:spcPts val="210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covered</a:t>
            </a:r>
          </a:p>
        </p:txBody>
      </p:sp>
      <p:sp>
        <p:nvSpPr>
          <p:cNvPr id="28" name="System card 3"/>
          <p:cNvSpPr/>
          <p:nvPr/>
        </p:nvSpPr>
        <p:spPr>
          <a:xfrm>
            <a:off x="4197773" y="3969173"/>
            <a:ext cx="1898226" cy="1402926"/>
          </a:xfrm>
          <a:prstGeom prst="roundRect">
            <a:avLst>
              <a:gd name="adj" fmla="val 14484"/>
            </a:avLst>
          </a:prstGeom>
          <a:solidFill>
            <a:srgbClr val="F2FB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System card 3 number"/>
          <p:cNvSpPr txBox="1"/>
          <p:nvPr/>
        </p:nvSpPr>
        <p:spPr>
          <a:xfrm>
            <a:off x="4425526" y="4101570"/>
            <a:ext cx="1670473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0" spc="-50">
                <a:solidFill>
                  <a:srgbClr val="06251C"/>
                </a:solidFill>
                <a:latin typeface="Arial Black"/>
              </a:rPr>
              <a:t>113,206</a:t>
            </a:r>
          </a:p>
        </p:txBody>
      </p:sp>
      <p:sp>
        <p:nvSpPr>
          <p:cNvPr id="30" name="System card 3 caption"/>
          <p:cNvSpPr txBox="1"/>
          <p:nvPr/>
        </p:nvSpPr>
        <p:spPr>
          <a:xfrm>
            <a:off x="4425526" y="4547446"/>
            <a:ext cx="2009139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0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AED total</a:t>
            </a:r>
          </a:p>
          <a:p>
            <a:pPr algn="l">
              <a:lnSpc>
                <a:spcPts val="2100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project cost</a:t>
            </a:r>
          </a:p>
        </p:txBody>
      </p:sp>
      <p:sp>
        <p:nvSpPr>
          <p:cNvPr id="31" name="Chart heading"/>
          <p:cNvSpPr txBox="1"/>
          <p:nvPr/>
        </p:nvSpPr>
        <p:spPr>
          <a:xfrm>
            <a:off x="508000" y="5623136"/>
            <a:ext cx="3386666" cy="6739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253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Cumulative savings</a:t>
            </a:r>
          </a:p>
          <a:p>
            <a:pPr algn="l">
              <a:lnSpc>
                <a:spcPts val="2253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over 25 years</a:t>
            </a:r>
          </a:p>
        </p:txBody>
      </p:sp>
      <p:sp>
        <p:nvSpPr>
          <p:cNvPr id="32" name="Chart total"/>
          <p:cNvSpPr txBox="1"/>
          <p:nvPr/>
        </p:nvSpPr>
        <p:spPr>
          <a:xfrm>
            <a:off x="3468793" y="5647266"/>
            <a:ext cx="2627206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0B5F45"/>
                </a:solidFill>
                <a:latin typeface="Arial Black"/>
              </a:rPr>
              <a:t>AED 584,415 by year 25</a:t>
            </a:r>
          </a:p>
        </p:txBody>
      </p:sp>
      <p:sp>
        <p:nvSpPr>
          <p:cNvPr id="33" name="Bar 1"/>
          <p:cNvSpPr/>
          <p:nvPr/>
        </p:nvSpPr>
        <p:spPr>
          <a:xfrm>
            <a:off x="508000" y="8756650"/>
            <a:ext cx="177800" cy="361950"/>
          </a:xfrm>
          <a:prstGeom prst="roundRect">
            <a:avLst>
              <a:gd name="adj" fmla="val 19047"/>
            </a:avLst>
          </a:prstGeom>
          <a:solidFill>
            <a:srgbClr val="0625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ar 2"/>
          <p:cNvSpPr/>
          <p:nvPr/>
        </p:nvSpPr>
        <p:spPr>
          <a:xfrm>
            <a:off x="736600" y="8756650"/>
            <a:ext cx="171450" cy="279400"/>
          </a:xfrm>
          <a:prstGeom prst="roundRect">
            <a:avLst>
              <a:gd name="adj" fmla="val 19753"/>
            </a:avLst>
          </a:prstGeom>
          <a:solidFill>
            <a:srgbClr val="0625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Bar 3"/>
          <p:cNvSpPr/>
          <p:nvPr/>
        </p:nvSpPr>
        <p:spPr>
          <a:xfrm>
            <a:off x="958850" y="8756650"/>
            <a:ext cx="177800" cy="196850"/>
          </a:xfrm>
          <a:prstGeom prst="roundRect">
            <a:avLst>
              <a:gd name="adj" fmla="val 19047"/>
            </a:avLst>
          </a:prstGeom>
          <a:solidFill>
            <a:srgbClr val="0625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ar 4"/>
          <p:cNvSpPr/>
          <p:nvPr/>
        </p:nvSpPr>
        <p:spPr>
          <a:xfrm>
            <a:off x="1187450" y="8756650"/>
            <a:ext cx="171450" cy="107950"/>
          </a:xfrm>
          <a:prstGeom prst="roundRect">
            <a:avLst>
              <a:gd name="adj" fmla="val 31372"/>
            </a:avLst>
          </a:prstGeom>
          <a:solidFill>
            <a:srgbClr val="0625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Bar 5"/>
          <p:cNvSpPr/>
          <p:nvPr/>
        </p:nvSpPr>
        <p:spPr>
          <a:xfrm>
            <a:off x="1409700" y="8756650"/>
            <a:ext cx="177800" cy="25400"/>
          </a:xfrm>
          <a:prstGeom prst="roundRect">
            <a:avLst>
              <a:gd name="adj" fmla="val 50000"/>
            </a:avLst>
          </a:prstGeom>
          <a:solidFill>
            <a:srgbClr val="0625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ar 6"/>
          <p:cNvSpPr/>
          <p:nvPr/>
        </p:nvSpPr>
        <p:spPr>
          <a:xfrm>
            <a:off x="1638300" y="8686800"/>
            <a:ext cx="171450" cy="69850"/>
          </a:xfrm>
          <a:prstGeom prst="roundRect">
            <a:avLst>
              <a:gd name="adj" fmla="val 48484"/>
            </a:avLst>
          </a:prstGeom>
          <a:solidFill>
            <a:srgbClr val="0B5F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Bar 7"/>
          <p:cNvSpPr/>
          <p:nvPr/>
        </p:nvSpPr>
        <p:spPr>
          <a:xfrm>
            <a:off x="1860550" y="8591550"/>
            <a:ext cx="177800" cy="165100"/>
          </a:xfrm>
          <a:prstGeom prst="roundRect">
            <a:avLst>
              <a:gd name="adj" fmla="val 20512"/>
            </a:avLst>
          </a:prstGeom>
          <a:solidFill>
            <a:srgbClr val="0C6A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ar 8"/>
          <p:cNvSpPr/>
          <p:nvPr/>
        </p:nvSpPr>
        <p:spPr>
          <a:xfrm>
            <a:off x="2089150" y="8496300"/>
            <a:ext cx="171450" cy="260350"/>
          </a:xfrm>
          <a:prstGeom prst="roundRect">
            <a:avLst>
              <a:gd name="adj" fmla="val 19753"/>
            </a:avLst>
          </a:prstGeom>
          <a:solidFill>
            <a:srgbClr val="0D76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Bar 9"/>
          <p:cNvSpPr/>
          <p:nvPr/>
        </p:nvSpPr>
        <p:spPr>
          <a:xfrm>
            <a:off x="2311400" y="8394700"/>
            <a:ext cx="177800" cy="361950"/>
          </a:xfrm>
          <a:prstGeom prst="roundRect">
            <a:avLst>
              <a:gd name="adj" fmla="val 19047"/>
            </a:avLst>
          </a:prstGeom>
          <a:solidFill>
            <a:srgbClr val="0F81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ar 10"/>
          <p:cNvSpPr/>
          <p:nvPr/>
        </p:nvSpPr>
        <p:spPr>
          <a:xfrm>
            <a:off x="2540000" y="8293100"/>
            <a:ext cx="171450" cy="463550"/>
          </a:xfrm>
          <a:prstGeom prst="roundRect">
            <a:avLst>
              <a:gd name="adj" fmla="val 19753"/>
            </a:avLst>
          </a:prstGeom>
          <a:solidFill>
            <a:srgbClr val="108D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Bar 11"/>
          <p:cNvSpPr/>
          <p:nvPr/>
        </p:nvSpPr>
        <p:spPr>
          <a:xfrm>
            <a:off x="2762250" y="8191500"/>
            <a:ext cx="177800" cy="565150"/>
          </a:xfrm>
          <a:prstGeom prst="roundRect">
            <a:avLst>
              <a:gd name="adj" fmla="val 19047"/>
            </a:avLst>
          </a:prstGeom>
          <a:solidFill>
            <a:srgbClr val="11986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ar 12"/>
          <p:cNvSpPr/>
          <p:nvPr/>
        </p:nvSpPr>
        <p:spPr>
          <a:xfrm>
            <a:off x="2990850" y="8089900"/>
            <a:ext cx="171450" cy="666750"/>
          </a:xfrm>
          <a:prstGeom prst="roundRect">
            <a:avLst>
              <a:gd name="adj" fmla="val 19753"/>
            </a:avLst>
          </a:prstGeom>
          <a:solidFill>
            <a:srgbClr val="12A2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Bar 13"/>
          <p:cNvSpPr/>
          <p:nvPr/>
        </p:nvSpPr>
        <p:spPr>
          <a:xfrm>
            <a:off x="3213100" y="7981950"/>
            <a:ext cx="177800" cy="774700"/>
          </a:xfrm>
          <a:prstGeom prst="roundRect">
            <a:avLst>
              <a:gd name="adj" fmla="val 19047"/>
            </a:avLst>
          </a:prstGeom>
          <a:solidFill>
            <a:srgbClr val="13A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ar 14"/>
          <p:cNvSpPr/>
          <p:nvPr/>
        </p:nvSpPr>
        <p:spPr>
          <a:xfrm>
            <a:off x="3441700" y="7867650"/>
            <a:ext cx="171450" cy="889000"/>
          </a:xfrm>
          <a:prstGeom prst="roundRect">
            <a:avLst>
              <a:gd name="adj" fmla="val 19753"/>
            </a:avLst>
          </a:prstGeom>
          <a:solidFill>
            <a:srgbClr val="14B1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Bar 15"/>
          <p:cNvSpPr/>
          <p:nvPr/>
        </p:nvSpPr>
        <p:spPr>
          <a:xfrm>
            <a:off x="3663950" y="7753350"/>
            <a:ext cx="177800" cy="1003300"/>
          </a:xfrm>
          <a:prstGeom prst="roundRect">
            <a:avLst>
              <a:gd name="adj" fmla="val 19047"/>
            </a:avLst>
          </a:prstGeom>
          <a:solidFill>
            <a:srgbClr val="15B8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ar 16"/>
          <p:cNvSpPr/>
          <p:nvPr/>
        </p:nvSpPr>
        <p:spPr>
          <a:xfrm>
            <a:off x="3892550" y="7639050"/>
            <a:ext cx="171450" cy="1117600"/>
          </a:xfrm>
          <a:prstGeom prst="roundRect">
            <a:avLst>
              <a:gd name="adj" fmla="val 19753"/>
            </a:avLst>
          </a:prstGeom>
          <a:solidFill>
            <a:srgbClr val="17C0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Bar 17"/>
          <p:cNvSpPr/>
          <p:nvPr/>
        </p:nvSpPr>
        <p:spPr>
          <a:xfrm>
            <a:off x="4114800" y="7518400"/>
            <a:ext cx="177800" cy="1238250"/>
          </a:xfrm>
          <a:prstGeom prst="roundRect">
            <a:avLst>
              <a:gd name="adj" fmla="val 19047"/>
            </a:avLst>
          </a:prstGeom>
          <a:solidFill>
            <a:srgbClr val="21C7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ar 18"/>
          <p:cNvSpPr/>
          <p:nvPr/>
        </p:nvSpPr>
        <p:spPr>
          <a:xfrm>
            <a:off x="4343400" y="7397750"/>
            <a:ext cx="171450" cy="1358900"/>
          </a:xfrm>
          <a:prstGeom prst="roundRect">
            <a:avLst>
              <a:gd name="adj" fmla="val 19753"/>
            </a:avLst>
          </a:prstGeom>
          <a:solidFill>
            <a:srgbClr val="34C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Bar 19"/>
          <p:cNvSpPr/>
          <p:nvPr/>
        </p:nvSpPr>
        <p:spPr>
          <a:xfrm>
            <a:off x="4565650" y="7270750"/>
            <a:ext cx="177800" cy="1485900"/>
          </a:xfrm>
          <a:prstGeom prst="roundRect">
            <a:avLst>
              <a:gd name="adj" fmla="val 19047"/>
            </a:avLst>
          </a:prstGeom>
          <a:solidFill>
            <a:srgbClr val="46D4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ar 20"/>
          <p:cNvSpPr/>
          <p:nvPr/>
        </p:nvSpPr>
        <p:spPr>
          <a:xfrm>
            <a:off x="4794250" y="7143750"/>
            <a:ext cx="171450" cy="1612900"/>
          </a:xfrm>
          <a:prstGeom prst="roundRect">
            <a:avLst>
              <a:gd name="adj" fmla="val 19753"/>
            </a:avLst>
          </a:prstGeom>
          <a:solidFill>
            <a:srgbClr val="59DB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Bar 21"/>
          <p:cNvSpPr/>
          <p:nvPr/>
        </p:nvSpPr>
        <p:spPr>
          <a:xfrm>
            <a:off x="5016500" y="7010400"/>
            <a:ext cx="177800" cy="1746250"/>
          </a:xfrm>
          <a:prstGeom prst="roundRect">
            <a:avLst>
              <a:gd name="adj" fmla="val 19047"/>
            </a:avLst>
          </a:prstGeom>
          <a:solidFill>
            <a:srgbClr val="6BE2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ar 22"/>
          <p:cNvSpPr/>
          <p:nvPr/>
        </p:nvSpPr>
        <p:spPr>
          <a:xfrm>
            <a:off x="5245100" y="6877050"/>
            <a:ext cx="171450" cy="1879600"/>
          </a:xfrm>
          <a:prstGeom prst="roundRect">
            <a:avLst>
              <a:gd name="adj" fmla="val 19753"/>
            </a:avLst>
          </a:prstGeom>
          <a:solidFill>
            <a:srgbClr val="7EE7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Bar 23"/>
          <p:cNvSpPr/>
          <p:nvPr/>
        </p:nvSpPr>
        <p:spPr>
          <a:xfrm>
            <a:off x="5467350" y="6737350"/>
            <a:ext cx="177800" cy="2019300"/>
          </a:xfrm>
          <a:prstGeom prst="roundRect">
            <a:avLst>
              <a:gd name="adj" fmla="val 19047"/>
            </a:avLst>
          </a:prstGeom>
          <a:solidFill>
            <a:srgbClr val="91E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ar 24"/>
          <p:cNvSpPr/>
          <p:nvPr/>
        </p:nvSpPr>
        <p:spPr>
          <a:xfrm>
            <a:off x="5695950" y="6597650"/>
            <a:ext cx="171450" cy="2159000"/>
          </a:xfrm>
          <a:prstGeom prst="roundRect">
            <a:avLst>
              <a:gd name="adj" fmla="val 19753"/>
            </a:avLst>
          </a:prstGeom>
          <a:solidFill>
            <a:srgbClr val="A3F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Bar 25"/>
          <p:cNvSpPr/>
          <p:nvPr/>
        </p:nvSpPr>
        <p:spPr>
          <a:xfrm>
            <a:off x="5918200" y="6451600"/>
            <a:ext cx="177800" cy="2305050"/>
          </a:xfrm>
          <a:prstGeom prst="roundRect">
            <a:avLst>
              <a:gd name="adj" fmla="val 19047"/>
            </a:avLst>
          </a:prstGeom>
          <a:solidFill>
            <a:srgbClr val="B6F5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Chart baseline"/>
          <p:cNvSpPr/>
          <p:nvPr/>
        </p:nvSpPr>
        <p:spPr>
          <a:xfrm>
            <a:off x="508000" y="8756650"/>
            <a:ext cx="5588000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Payback marker"/>
          <p:cNvCxnSpPr/>
          <p:nvPr/>
        </p:nvCxnSpPr>
        <p:spPr>
          <a:xfrm>
            <a:off x="1749213" y="6451600"/>
            <a:ext cx="0" cy="2743200"/>
          </a:xfrm>
          <a:prstGeom prst="line">
            <a:avLst/>
          </a:prstGeom>
          <a:ln w="19050">
            <a:solidFill>
              <a:srgbClr val="6B8279"/>
            </a:solidFill>
            <a:prstDash val="sysDash"/>
          </a:ln>
        </p:spPr>
      </p:cxnSp>
      <p:sp>
        <p:nvSpPr>
          <p:cNvPr id="60" name="Payback pill"/>
          <p:cNvSpPr/>
          <p:nvPr/>
        </p:nvSpPr>
        <p:spPr>
          <a:xfrm>
            <a:off x="1841500" y="6515100"/>
            <a:ext cx="1041400" cy="304800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Payback pill label"/>
          <p:cNvSpPr txBox="1"/>
          <p:nvPr/>
        </p:nvSpPr>
        <p:spPr>
          <a:xfrm>
            <a:off x="1953259" y="6505151"/>
            <a:ext cx="1041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0B5F45"/>
                </a:solidFill>
                <a:latin typeface="Arial Black"/>
              </a:rPr>
              <a:t>payback</a:t>
            </a:r>
          </a:p>
        </p:txBody>
      </p:sp>
      <p:sp>
        <p:nvSpPr>
          <p:cNvPr id="62" name="Axis label 5"/>
          <p:cNvSpPr txBox="1"/>
          <p:nvPr/>
        </p:nvSpPr>
        <p:spPr>
          <a:xfrm>
            <a:off x="1428326" y="9231418"/>
            <a:ext cx="508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8279"/>
                </a:solidFill>
                <a:latin typeface="Arial"/>
              </a:rPr>
              <a:t>5</a:t>
            </a:r>
          </a:p>
        </p:txBody>
      </p:sp>
      <p:sp>
        <p:nvSpPr>
          <p:cNvPr id="63" name="Axis label 10"/>
          <p:cNvSpPr txBox="1"/>
          <p:nvPr/>
        </p:nvSpPr>
        <p:spPr>
          <a:xfrm>
            <a:off x="2498513" y="9231418"/>
            <a:ext cx="508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8279"/>
                </a:solidFill>
                <a:latin typeface="Arial"/>
              </a:rPr>
              <a:t>10</a:t>
            </a:r>
          </a:p>
        </p:txBody>
      </p:sp>
      <p:sp>
        <p:nvSpPr>
          <p:cNvPr id="64" name="Axis label 15"/>
          <p:cNvSpPr txBox="1"/>
          <p:nvPr/>
        </p:nvSpPr>
        <p:spPr>
          <a:xfrm>
            <a:off x="3631353" y="9231418"/>
            <a:ext cx="508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8279"/>
                </a:solidFill>
                <a:latin typeface="Arial"/>
              </a:rPr>
              <a:t>15</a:t>
            </a:r>
          </a:p>
        </p:txBody>
      </p:sp>
      <p:sp>
        <p:nvSpPr>
          <p:cNvPr id="65" name="Axis label 20"/>
          <p:cNvSpPr txBox="1"/>
          <p:nvPr/>
        </p:nvSpPr>
        <p:spPr>
          <a:xfrm>
            <a:off x="4765039" y="9231418"/>
            <a:ext cx="508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8279"/>
                </a:solidFill>
                <a:latin typeface="Arial"/>
              </a:rPr>
              <a:t>20</a:t>
            </a:r>
          </a:p>
        </p:txBody>
      </p:sp>
      <p:sp>
        <p:nvSpPr>
          <p:cNvPr id="66" name="Axis label 25"/>
          <p:cNvSpPr txBox="1"/>
          <p:nvPr/>
        </p:nvSpPr>
        <p:spPr>
          <a:xfrm>
            <a:off x="5897880" y="9231418"/>
            <a:ext cx="508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8279"/>
                </a:solidFill>
                <a:latin typeface="Arial"/>
              </a:rPr>
              <a:t>25</a:t>
            </a:r>
          </a:p>
        </p:txBody>
      </p:sp>
      <p:sp>
        <p:nvSpPr>
          <p:cNvPr id="67" name="Legend swatch 1"/>
          <p:cNvSpPr/>
          <p:nvPr/>
        </p:nvSpPr>
        <p:spPr>
          <a:xfrm>
            <a:off x="508000" y="9734973"/>
            <a:ext cx="139700" cy="139700"/>
          </a:xfrm>
          <a:prstGeom prst="roundRect">
            <a:avLst>
              <a:gd name="adj" fmla="val 24242"/>
            </a:avLst>
          </a:prstGeom>
          <a:solidFill>
            <a:srgbClr val="0625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Legend swatch 2"/>
          <p:cNvSpPr/>
          <p:nvPr/>
        </p:nvSpPr>
        <p:spPr>
          <a:xfrm>
            <a:off x="2650913" y="9734973"/>
            <a:ext cx="139700" cy="139700"/>
          </a:xfrm>
          <a:prstGeom prst="roundRect">
            <a:avLst>
              <a:gd name="adj" fmla="val 24242"/>
            </a:avLst>
          </a:prstGeom>
          <a:gradFill rotWithShape="1">
            <a:gsLst>
              <a:gs pos="0">
                <a:srgbClr val="12A06B"/>
              </a:gs>
              <a:gs pos="100000">
                <a:srgbClr val="6FE39C"/>
              </a:gs>
            </a:gsLst>
            <a:lin scaled="0" ang="1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Legend label - cost"/>
          <p:cNvSpPr txBox="1"/>
          <p:nvPr/>
        </p:nvSpPr>
        <p:spPr>
          <a:xfrm>
            <a:off x="736600" y="9637818"/>
            <a:ext cx="2540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8279"/>
                </a:solidFill>
                <a:latin typeface="Arial"/>
              </a:rPr>
              <a:t>Cost not yet returned</a:t>
            </a:r>
          </a:p>
        </p:txBody>
      </p:sp>
      <p:sp>
        <p:nvSpPr>
          <p:cNvPr id="70" name="Legend label - savings"/>
          <p:cNvSpPr txBox="1"/>
          <p:nvPr/>
        </p:nvSpPr>
        <p:spPr>
          <a:xfrm>
            <a:off x="2879513" y="9637818"/>
            <a:ext cx="2540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8279"/>
                </a:solidFill>
                <a:latin typeface="Arial"/>
              </a:rPr>
              <a:t>Savings after payback</a:t>
            </a:r>
          </a:p>
        </p:txBody>
      </p:sp>
      <p:sp>
        <p:nvSpPr>
          <p:cNvPr id="71" name="Footnote accent dash"/>
          <p:cNvSpPr/>
          <p:nvPr/>
        </p:nvSpPr>
        <p:spPr>
          <a:xfrm>
            <a:off x="508000" y="11150600"/>
            <a:ext cx="355600" cy="38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B5F45"/>
              </a:gs>
              <a:gs pos="100000">
                <a:srgbClr val="6FE39C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Footnote"/>
          <p:cNvSpPr txBox="1"/>
          <p:nvPr/>
        </p:nvSpPr>
        <p:spPr>
          <a:xfrm>
            <a:off x="990600" y="10991426"/>
            <a:ext cx="5444066" cy="597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3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Cashflow accounts for 0.55% annual panel degradation and 3%</a:t>
            </a:r>
          </a:p>
          <a:p>
            <a:pPr algn="l">
              <a:lnSpc>
                <a:spcPts val="1953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annual inflation.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 panel"/>
          <p:cNvSpPr/>
          <p:nvPr/>
        </p:nvSpPr>
        <p:spPr>
          <a:xfrm>
            <a:off x="508000" y="635000"/>
            <a:ext cx="609600" cy="381000"/>
          </a:xfrm>
          <a:prstGeom prst="roundRect">
            <a:avLst>
              <a:gd name="adj" fmla="val 114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Almuhib Solar Energy logo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609600" cy="38100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1320800" y="658918"/>
            <a:ext cx="55372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TRACK RECORD</a:t>
            </a:r>
          </a:p>
        </p:txBody>
      </p:sp>
      <p:sp>
        <p:nvSpPr>
          <p:cNvPr id="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gress rail fill"/>
          <p:cNvSpPr/>
          <p:nvPr/>
        </p:nvSpPr>
        <p:spPr>
          <a:xfrm>
            <a:off x="6540500" y="635000"/>
            <a:ext cx="38100" cy="672123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dot glow 2.1x"/>
          <p:cNvSpPr/>
          <p:nvPr/>
        </p:nvSpPr>
        <p:spPr>
          <a:xfrm>
            <a:off x="6456426" y="7253106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dot glow 1.55x"/>
          <p:cNvSpPr/>
          <p:nvPr/>
        </p:nvSpPr>
        <p:spPr>
          <a:xfrm>
            <a:off x="6483434" y="7280115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dot"/>
          <p:cNvSpPr/>
          <p:nvPr/>
        </p:nvSpPr>
        <p:spPr>
          <a:xfrm>
            <a:off x="6510443" y="7307124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ge number"/>
          <p:cNvSpPr txBox="1"/>
          <p:nvPr/>
        </p:nvSpPr>
        <p:spPr>
          <a:xfrm>
            <a:off x="5566833" y="7194305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6B8279"/>
                </a:solidFill>
                <a:latin typeface="Arial"/>
              </a:rPr>
              <a:t>08</a:t>
            </a:r>
          </a:p>
        </p:txBody>
      </p:sp>
      <p:sp>
        <p:nvSpPr>
          <p:cNvPr id="12" name="Project count"/>
          <p:cNvSpPr txBox="1"/>
          <p:nvPr/>
        </p:nvSpPr>
        <p:spPr>
          <a:xfrm>
            <a:off x="508000" y="1164272"/>
            <a:ext cx="3386666" cy="1133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0" b="0" spc="-195">
                <a:gradFill>
                  <a:gsLst>
                    <a:gs pos="0">
                      <a:srgbClr val="0C6B4B"/>
                    </a:gs>
                    <a:gs pos="100000">
                      <a:srgbClr val="109364"/>
                    </a:gs>
                  </a:gsLst>
                  <a:lin ang="0" scaled="0"/>
                </a:gradFill>
                <a:latin typeface="Arial Black"/>
              </a:rPr>
              <a:t>100+</a:t>
            </a:r>
          </a:p>
        </p:txBody>
      </p:sp>
      <p:sp>
        <p:nvSpPr>
          <p:cNvPr id="13" name="Headline"/>
          <p:cNvSpPr txBox="1"/>
          <p:nvPr/>
        </p:nvSpPr>
        <p:spPr>
          <a:xfrm>
            <a:off x="508000" y="2130530"/>
            <a:ext cx="5926666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06251C"/>
                </a:solidFill>
                <a:latin typeface="Arial"/>
              </a:rPr>
              <a:t>projects in Emirates</a:t>
            </a:r>
          </a:p>
        </p:txBody>
      </p:sp>
      <p:sp>
        <p:nvSpPr>
          <p:cNvPr id="14" name="Communities lead"/>
          <p:cNvSpPr txBox="1"/>
          <p:nvPr/>
        </p:nvSpPr>
        <p:spPr>
          <a:xfrm>
            <a:off x="508000" y="2801620"/>
            <a:ext cx="5249333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900"/>
              </a:lnSpc>
            </a:pPr>
            <a:r>
              <a:rPr sz="2000" b="0">
                <a:solidFill>
                  <a:srgbClr val="06251C"/>
                </a:solidFill>
                <a:latin typeface="Arial"/>
              </a:rPr>
              <a:t>The primary communities where we easily</a:t>
            </a:r>
          </a:p>
          <a:p>
            <a:pPr algn="l">
              <a:lnSpc>
                <a:spcPts val="2900"/>
              </a:lnSpc>
            </a:pPr>
            <a:r>
              <a:rPr sz="2000" b="0">
                <a:solidFill>
                  <a:srgbClr val="06251C"/>
                </a:solidFill>
                <a:latin typeface="Arial"/>
              </a:rPr>
              <a:t>secure permits.</a:t>
            </a:r>
          </a:p>
        </p:txBody>
      </p:sp>
      <p:sp>
        <p:nvSpPr>
          <p:cNvPr id="15" name="Community names"/>
          <p:cNvSpPr txBox="1"/>
          <p:nvPr/>
        </p:nvSpPr>
        <p:spPr>
          <a:xfrm>
            <a:off x="508000" y="3910753"/>
            <a:ext cx="575733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Emaar · Nakheel · Meraas · Damac · Dubai Holding · Sobha</a:t>
            </a:r>
          </a:p>
        </p:txBody>
      </p:sp>
      <p:sp>
        <p:nvSpPr>
          <p:cNvPr id="16" name="IMG-03 frame"/>
          <p:cNvSpPr/>
          <p:nvPr/>
        </p:nvSpPr>
        <p:spPr>
          <a:xfrm>
            <a:off x="508000" y="7289800"/>
            <a:ext cx="1759373" cy="1320800"/>
          </a:xfrm>
          <a:prstGeom prst="roundRect">
            <a:avLst>
              <a:gd name="adj" fmla="val 13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IMG-03 glyph" descr="icon_image_s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011" y="7748058"/>
            <a:ext cx="133350" cy="133350"/>
          </a:xfrm>
          <a:prstGeom prst="rect">
            <a:avLst/>
          </a:prstGeom>
        </p:spPr>
      </p:pic>
      <p:sp>
        <p:nvSpPr>
          <p:cNvPr id="18" name="IMG-03 label"/>
          <p:cNvSpPr txBox="1"/>
          <p:nvPr/>
        </p:nvSpPr>
        <p:spPr>
          <a:xfrm>
            <a:off x="508000" y="7885906"/>
            <a:ext cx="1759373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IMG-03</a:t>
            </a:r>
          </a:p>
        </p:txBody>
      </p:sp>
      <p:sp>
        <p:nvSpPr>
          <p:cNvPr id="19" name="IMG-03 link"/>
          <p:cNvSpPr txBox="1"/>
          <p:nvPr/>
        </p:nvSpPr>
        <p:spPr>
          <a:xfrm>
            <a:off x="508000" y="8030157"/>
            <a:ext cx="1759373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20" name="IMG-04 frame"/>
          <p:cNvSpPr/>
          <p:nvPr/>
        </p:nvSpPr>
        <p:spPr>
          <a:xfrm>
            <a:off x="2419773" y="7289800"/>
            <a:ext cx="1764453" cy="1320800"/>
          </a:xfrm>
          <a:prstGeom prst="roundRect">
            <a:avLst>
              <a:gd name="adj" fmla="val 13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IMG-04 glyph" descr="icon_image_s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325" y="7748058"/>
            <a:ext cx="133350" cy="133350"/>
          </a:xfrm>
          <a:prstGeom prst="rect">
            <a:avLst/>
          </a:prstGeom>
        </p:spPr>
      </p:pic>
      <p:sp>
        <p:nvSpPr>
          <p:cNvPr id="22" name="IMG-04 label"/>
          <p:cNvSpPr txBox="1"/>
          <p:nvPr/>
        </p:nvSpPr>
        <p:spPr>
          <a:xfrm>
            <a:off x="2419773" y="7885906"/>
            <a:ext cx="1764453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IMG-04</a:t>
            </a:r>
          </a:p>
        </p:txBody>
      </p:sp>
      <p:sp>
        <p:nvSpPr>
          <p:cNvPr id="23" name="IMG-04 link"/>
          <p:cNvSpPr txBox="1"/>
          <p:nvPr/>
        </p:nvSpPr>
        <p:spPr>
          <a:xfrm>
            <a:off x="2419773" y="8030157"/>
            <a:ext cx="1764453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24" name="IMG-05 frame"/>
          <p:cNvSpPr/>
          <p:nvPr/>
        </p:nvSpPr>
        <p:spPr>
          <a:xfrm>
            <a:off x="4336626" y="7289800"/>
            <a:ext cx="1759373" cy="1320800"/>
          </a:xfrm>
          <a:prstGeom prst="roundRect">
            <a:avLst>
              <a:gd name="adj" fmla="val 13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IMG-05 glyph" descr="icon_image_s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638" y="7748058"/>
            <a:ext cx="133350" cy="133350"/>
          </a:xfrm>
          <a:prstGeom prst="rect">
            <a:avLst/>
          </a:prstGeom>
        </p:spPr>
      </p:pic>
      <p:sp>
        <p:nvSpPr>
          <p:cNvPr id="26" name="IMG-05 label"/>
          <p:cNvSpPr txBox="1"/>
          <p:nvPr/>
        </p:nvSpPr>
        <p:spPr>
          <a:xfrm>
            <a:off x="4336626" y="7885906"/>
            <a:ext cx="1759373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IMG-05</a:t>
            </a:r>
          </a:p>
        </p:txBody>
      </p:sp>
      <p:sp>
        <p:nvSpPr>
          <p:cNvPr id="27" name="IMG-05 link"/>
          <p:cNvSpPr txBox="1"/>
          <p:nvPr/>
        </p:nvSpPr>
        <p:spPr>
          <a:xfrm>
            <a:off x="4336626" y="8030157"/>
            <a:ext cx="1759373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28" name="IMG-06 frame"/>
          <p:cNvSpPr/>
          <p:nvPr/>
        </p:nvSpPr>
        <p:spPr>
          <a:xfrm>
            <a:off x="508000" y="8763000"/>
            <a:ext cx="1759373" cy="1320800"/>
          </a:xfrm>
          <a:prstGeom prst="roundRect">
            <a:avLst>
              <a:gd name="adj" fmla="val 13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IMG-06 glyph" descr="icon_image_s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011" y="9221258"/>
            <a:ext cx="133350" cy="133350"/>
          </a:xfrm>
          <a:prstGeom prst="rect">
            <a:avLst/>
          </a:prstGeom>
        </p:spPr>
      </p:pic>
      <p:sp>
        <p:nvSpPr>
          <p:cNvPr id="30" name="IMG-06 label"/>
          <p:cNvSpPr txBox="1"/>
          <p:nvPr/>
        </p:nvSpPr>
        <p:spPr>
          <a:xfrm>
            <a:off x="508000" y="9359106"/>
            <a:ext cx="1759373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IMG-06</a:t>
            </a:r>
          </a:p>
        </p:txBody>
      </p:sp>
      <p:sp>
        <p:nvSpPr>
          <p:cNvPr id="31" name="IMG-06 link"/>
          <p:cNvSpPr txBox="1"/>
          <p:nvPr/>
        </p:nvSpPr>
        <p:spPr>
          <a:xfrm>
            <a:off x="508000" y="9503357"/>
            <a:ext cx="1759373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32" name="IMG-07 frame"/>
          <p:cNvSpPr/>
          <p:nvPr/>
        </p:nvSpPr>
        <p:spPr>
          <a:xfrm>
            <a:off x="2419773" y="8763000"/>
            <a:ext cx="1764453" cy="1320800"/>
          </a:xfrm>
          <a:prstGeom prst="roundRect">
            <a:avLst>
              <a:gd name="adj" fmla="val 13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IMG-07 glyph" descr="icon_image_s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325" y="9221258"/>
            <a:ext cx="133350" cy="133350"/>
          </a:xfrm>
          <a:prstGeom prst="rect">
            <a:avLst/>
          </a:prstGeom>
        </p:spPr>
      </p:pic>
      <p:sp>
        <p:nvSpPr>
          <p:cNvPr id="34" name="IMG-07 label"/>
          <p:cNvSpPr txBox="1"/>
          <p:nvPr/>
        </p:nvSpPr>
        <p:spPr>
          <a:xfrm>
            <a:off x="2419773" y="9359106"/>
            <a:ext cx="1764453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IMG-07</a:t>
            </a:r>
          </a:p>
        </p:txBody>
      </p:sp>
      <p:sp>
        <p:nvSpPr>
          <p:cNvPr id="35" name="IMG-07 link"/>
          <p:cNvSpPr txBox="1"/>
          <p:nvPr/>
        </p:nvSpPr>
        <p:spPr>
          <a:xfrm>
            <a:off x="2419773" y="9503357"/>
            <a:ext cx="1764453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36" name="IMG-08 frame"/>
          <p:cNvSpPr/>
          <p:nvPr/>
        </p:nvSpPr>
        <p:spPr>
          <a:xfrm>
            <a:off x="4336626" y="8763000"/>
            <a:ext cx="1759373" cy="1320800"/>
          </a:xfrm>
          <a:prstGeom prst="roundRect">
            <a:avLst>
              <a:gd name="adj" fmla="val 13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IMG-08 glyph" descr="icon_image_s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638" y="9221258"/>
            <a:ext cx="133350" cy="133350"/>
          </a:xfrm>
          <a:prstGeom prst="rect">
            <a:avLst/>
          </a:prstGeom>
        </p:spPr>
      </p:pic>
      <p:sp>
        <p:nvSpPr>
          <p:cNvPr id="38" name="IMG-08 label"/>
          <p:cNvSpPr txBox="1"/>
          <p:nvPr/>
        </p:nvSpPr>
        <p:spPr>
          <a:xfrm>
            <a:off x="4336626" y="9359106"/>
            <a:ext cx="1759373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IMG-08</a:t>
            </a:r>
          </a:p>
        </p:txBody>
      </p:sp>
      <p:sp>
        <p:nvSpPr>
          <p:cNvPr id="39" name="IMG-08 link"/>
          <p:cNvSpPr txBox="1"/>
          <p:nvPr/>
        </p:nvSpPr>
        <p:spPr>
          <a:xfrm>
            <a:off x="4336626" y="9503357"/>
            <a:ext cx="1759373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40" name="IMG-09 frame"/>
          <p:cNvSpPr/>
          <p:nvPr/>
        </p:nvSpPr>
        <p:spPr>
          <a:xfrm>
            <a:off x="508000" y="10236200"/>
            <a:ext cx="1759373" cy="1320800"/>
          </a:xfrm>
          <a:prstGeom prst="roundRect">
            <a:avLst>
              <a:gd name="adj" fmla="val 13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IMG-09 glyph" descr="icon_image_s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011" y="10694458"/>
            <a:ext cx="133350" cy="133350"/>
          </a:xfrm>
          <a:prstGeom prst="rect">
            <a:avLst/>
          </a:prstGeom>
        </p:spPr>
      </p:pic>
      <p:sp>
        <p:nvSpPr>
          <p:cNvPr id="42" name="IMG-09 label"/>
          <p:cNvSpPr txBox="1"/>
          <p:nvPr/>
        </p:nvSpPr>
        <p:spPr>
          <a:xfrm>
            <a:off x="508000" y="10832306"/>
            <a:ext cx="1759373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IMG-09</a:t>
            </a:r>
          </a:p>
        </p:txBody>
      </p:sp>
      <p:sp>
        <p:nvSpPr>
          <p:cNvPr id="43" name="IMG-09 link"/>
          <p:cNvSpPr txBox="1"/>
          <p:nvPr/>
        </p:nvSpPr>
        <p:spPr>
          <a:xfrm>
            <a:off x="508000" y="10976557"/>
            <a:ext cx="1759373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44" name="IMG-10 frame"/>
          <p:cNvSpPr/>
          <p:nvPr/>
        </p:nvSpPr>
        <p:spPr>
          <a:xfrm>
            <a:off x="2419773" y="10236200"/>
            <a:ext cx="1764453" cy="1320800"/>
          </a:xfrm>
          <a:prstGeom prst="roundRect">
            <a:avLst>
              <a:gd name="adj" fmla="val 13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IMG-10 glyph" descr="icon_image_s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325" y="10694458"/>
            <a:ext cx="133350" cy="133350"/>
          </a:xfrm>
          <a:prstGeom prst="rect">
            <a:avLst/>
          </a:prstGeom>
        </p:spPr>
      </p:pic>
      <p:sp>
        <p:nvSpPr>
          <p:cNvPr id="46" name="IMG-10 label"/>
          <p:cNvSpPr txBox="1"/>
          <p:nvPr/>
        </p:nvSpPr>
        <p:spPr>
          <a:xfrm>
            <a:off x="2419773" y="10832306"/>
            <a:ext cx="1764453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IMG-10</a:t>
            </a:r>
          </a:p>
        </p:txBody>
      </p:sp>
      <p:sp>
        <p:nvSpPr>
          <p:cNvPr id="47" name="IMG-10 link"/>
          <p:cNvSpPr txBox="1"/>
          <p:nvPr/>
        </p:nvSpPr>
        <p:spPr>
          <a:xfrm>
            <a:off x="2419773" y="10976557"/>
            <a:ext cx="1764453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48" name="IMG-11 frame"/>
          <p:cNvSpPr/>
          <p:nvPr/>
        </p:nvSpPr>
        <p:spPr>
          <a:xfrm>
            <a:off x="4336626" y="10236200"/>
            <a:ext cx="1759373" cy="1320800"/>
          </a:xfrm>
          <a:prstGeom prst="roundRect">
            <a:avLst>
              <a:gd name="adj" fmla="val 13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IMG-11 glyph" descr="icon_image_s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638" y="10694458"/>
            <a:ext cx="133350" cy="133350"/>
          </a:xfrm>
          <a:prstGeom prst="rect">
            <a:avLst/>
          </a:prstGeom>
        </p:spPr>
      </p:pic>
      <p:sp>
        <p:nvSpPr>
          <p:cNvPr id="50" name="IMG-11 label"/>
          <p:cNvSpPr txBox="1"/>
          <p:nvPr/>
        </p:nvSpPr>
        <p:spPr>
          <a:xfrm>
            <a:off x="4336626" y="10832306"/>
            <a:ext cx="1759373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IMG-11</a:t>
            </a:r>
          </a:p>
        </p:txBody>
      </p:sp>
      <p:sp>
        <p:nvSpPr>
          <p:cNvPr id="51" name="IMG-11 link"/>
          <p:cNvSpPr txBox="1"/>
          <p:nvPr/>
        </p:nvSpPr>
        <p:spPr>
          <a:xfrm>
            <a:off x="4336626" y="10976557"/>
            <a:ext cx="1759373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 panel"/>
          <p:cNvSpPr/>
          <p:nvPr/>
        </p:nvSpPr>
        <p:spPr>
          <a:xfrm>
            <a:off x="508000" y="635000"/>
            <a:ext cx="609600" cy="381000"/>
          </a:xfrm>
          <a:prstGeom prst="roundRect">
            <a:avLst>
              <a:gd name="adj" fmla="val 114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Almuhib Solar Energy logo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609600" cy="38100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1320800" y="658918"/>
            <a:ext cx="55372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THE TEAM</a:t>
            </a:r>
          </a:p>
        </p:txBody>
      </p:sp>
      <p:sp>
        <p:nvSpPr>
          <p:cNvPr id="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gress rail fill"/>
          <p:cNvSpPr/>
          <p:nvPr/>
        </p:nvSpPr>
        <p:spPr>
          <a:xfrm>
            <a:off x="6540500" y="635000"/>
            <a:ext cx="38100" cy="75613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dot glow 2.1x"/>
          <p:cNvSpPr/>
          <p:nvPr/>
        </p:nvSpPr>
        <p:spPr>
          <a:xfrm>
            <a:off x="6456426" y="8093260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dot glow 1.55x"/>
          <p:cNvSpPr/>
          <p:nvPr/>
        </p:nvSpPr>
        <p:spPr>
          <a:xfrm>
            <a:off x="6483434" y="8120269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dot"/>
          <p:cNvSpPr/>
          <p:nvPr/>
        </p:nvSpPr>
        <p:spPr>
          <a:xfrm>
            <a:off x="6510443" y="8147277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ge number"/>
          <p:cNvSpPr txBox="1"/>
          <p:nvPr/>
        </p:nvSpPr>
        <p:spPr>
          <a:xfrm>
            <a:off x="5566833" y="8034459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6B8279"/>
                </a:solidFill>
                <a:latin typeface="Arial"/>
              </a:rPr>
              <a:t>09</a:t>
            </a:r>
          </a:p>
        </p:txBody>
      </p:sp>
      <p:sp>
        <p:nvSpPr>
          <p:cNvPr id="12" name="Headline"/>
          <p:cNvSpPr txBox="1"/>
          <p:nvPr/>
        </p:nvSpPr>
        <p:spPr>
          <a:xfrm>
            <a:off x="508000" y="1254230"/>
            <a:ext cx="5926666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06251C"/>
                </a:solidFill>
                <a:latin typeface="Arial"/>
              </a:rPr>
              <a:t>Who builds your system</a:t>
            </a:r>
          </a:p>
        </p:txBody>
      </p:sp>
      <p:sp>
        <p:nvSpPr>
          <p:cNvPr id="13" name="Team rail"/>
          <p:cNvSpPr/>
          <p:nvPr/>
        </p:nvSpPr>
        <p:spPr>
          <a:xfrm>
            <a:off x="508000" y="2015066"/>
            <a:ext cx="42333" cy="9541933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31000">
                <a:srgbClr val="0A5941"/>
              </a:gs>
              <a:gs pos="62000">
                <a:srgbClr val="0F9D66"/>
              </a:gs>
              <a:gs pos="89000">
                <a:srgbClr val="6FE39C"/>
              </a:gs>
              <a:gs pos="100000">
                <a:srgbClr val="C7F7D8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ngineers tile"/>
          <p:cNvSpPr/>
          <p:nvPr/>
        </p:nvSpPr>
        <p:spPr>
          <a:xfrm>
            <a:off x="825500" y="201930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Engineers icon" descr="icon_p09_s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850" y="2152650"/>
            <a:ext cx="457200" cy="457200"/>
          </a:xfrm>
          <a:prstGeom prst="rect">
            <a:avLst/>
          </a:prstGeom>
        </p:spPr>
      </p:pic>
      <p:sp>
        <p:nvSpPr>
          <p:cNvPr id="16" name="Engineers heading"/>
          <p:cNvSpPr txBox="1"/>
          <p:nvPr/>
        </p:nvSpPr>
        <p:spPr>
          <a:xfrm>
            <a:off x="1752600" y="1969346"/>
            <a:ext cx="4233333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Engineers, not installers</a:t>
            </a:r>
          </a:p>
        </p:txBody>
      </p:sp>
      <p:sp>
        <p:nvSpPr>
          <p:cNvPr id="17" name="Engineers paragraph"/>
          <p:cNvSpPr txBox="1"/>
          <p:nvPr/>
        </p:nvSpPr>
        <p:spPr>
          <a:xfrm>
            <a:off x="1752600" y="2374053"/>
            <a:ext cx="2540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[paragraph · from source]</a:t>
            </a:r>
          </a:p>
        </p:txBody>
      </p:sp>
      <p:sp>
        <p:nvSpPr>
          <p:cNvPr id="18" name="Language tile"/>
          <p:cNvSpPr/>
          <p:nvPr/>
        </p:nvSpPr>
        <p:spPr>
          <a:xfrm>
            <a:off x="825500" y="481965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Language icon" descr="icon_p09_pul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850" y="4953000"/>
            <a:ext cx="457200" cy="457200"/>
          </a:xfrm>
          <a:prstGeom prst="rect">
            <a:avLst/>
          </a:prstGeom>
        </p:spPr>
      </p:pic>
      <p:sp>
        <p:nvSpPr>
          <p:cNvPr id="20" name="Language heading"/>
          <p:cNvSpPr txBox="1"/>
          <p:nvPr/>
        </p:nvSpPr>
        <p:spPr>
          <a:xfrm>
            <a:off x="1752600" y="4769696"/>
            <a:ext cx="4233333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We speak your language</a:t>
            </a:r>
          </a:p>
        </p:txBody>
      </p:sp>
      <p:sp>
        <p:nvSpPr>
          <p:cNvPr id="21" name="Language paragraph"/>
          <p:cNvSpPr txBox="1"/>
          <p:nvPr/>
        </p:nvSpPr>
        <p:spPr>
          <a:xfrm>
            <a:off x="1752600" y="5174826"/>
            <a:ext cx="2540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[paragraph · from source]</a:t>
            </a:r>
          </a:p>
        </p:txBody>
      </p:sp>
      <p:sp>
        <p:nvSpPr>
          <p:cNvPr id="22" name="Schedule tile"/>
          <p:cNvSpPr/>
          <p:nvPr/>
        </p:nvSpPr>
        <p:spPr>
          <a:xfrm>
            <a:off x="825500" y="762000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Schedule icon" descr="icon_p09_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850" y="7753350"/>
            <a:ext cx="457200" cy="457200"/>
          </a:xfrm>
          <a:prstGeom prst="rect">
            <a:avLst/>
          </a:prstGeom>
        </p:spPr>
      </p:pic>
      <p:sp>
        <p:nvSpPr>
          <p:cNvPr id="24" name="Schedule heading"/>
          <p:cNvSpPr txBox="1"/>
          <p:nvPr/>
        </p:nvSpPr>
        <p:spPr>
          <a:xfrm>
            <a:off x="1752600" y="7570046"/>
            <a:ext cx="4233333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Nothing rushed, nothing left to</a:t>
            </a:r>
          </a:p>
          <a:p>
            <a:pPr algn="l">
              <a:lnSpc>
                <a:spcPts val="2400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chance</a:t>
            </a:r>
          </a:p>
        </p:txBody>
      </p:sp>
      <p:sp>
        <p:nvSpPr>
          <p:cNvPr id="25" name="Schedule paragraph"/>
          <p:cNvSpPr txBox="1"/>
          <p:nvPr/>
        </p:nvSpPr>
        <p:spPr>
          <a:xfrm>
            <a:off x="1752600" y="8279553"/>
            <a:ext cx="2540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[paragraph · from source]</a:t>
            </a:r>
          </a:p>
        </p:txBody>
      </p:sp>
      <p:sp>
        <p:nvSpPr>
          <p:cNvPr id="26" name="Warranty tile"/>
          <p:cNvSpPr/>
          <p:nvPr/>
        </p:nvSpPr>
        <p:spPr>
          <a:xfrm>
            <a:off x="825500" y="1068070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Warranty icon" descr="icon_p09_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850" y="10814050"/>
            <a:ext cx="457200" cy="457200"/>
          </a:xfrm>
          <a:prstGeom prst="rect">
            <a:avLst/>
          </a:prstGeom>
        </p:spPr>
      </p:pic>
      <p:sp>
        <p:nvSpPr>
          <p:cNvPr id="28" name="Warranty heading"/>
          <p:cNvSpPr txBox="1"/>
          <p:nvPr/>
        </p:nvSpPr>
        <p:spPr>
          <a:xfrm>
            <a:off x="1752600" y="10630746"/>
            <a:ext cx="4233333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Five years on our workmanship</a:t>
            </a:r>
          </a:p>
        </p:txBody>
      </p:sp>
      <p:sp>
        <p:nvSpPr>
          <p:cNvPr id="29" name="Warranty paragraph"/>
          <p:cNvSpPr txBox="1"/>
          <p:nvPr/>
        </p:nvSpPr>
        <p:spPr>
          <a:xfrm>
            <a:off x="1752600" y="11035453"/>
            <a:ext cx="2540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[paragraph · from source]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 panel"/>
          <p:cNvSpPr/>
          <p:nvPr/>
        </p:nvSpPr>
        <p:spPr>
          <a:xfrm>
            <a:off x="508000" y="635000"/>
            <a:ext cx="609600" cy="381000"/>
          </a:xfrm>
          <a:prstGeom prst="roundRect">
            <a:avLst>
              <a:gd name="adj" fmla="val 114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Almuhib Solar Energy logo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609600" cy="38100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1320800" y="658918"/>
            <a:ext cx="55372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POSITIONING</a:t>
            </a:r>
          </a:p>
        </p:txBody>
      </p:sp>
      <p:sp>
        <p:nvSpPr>
          <p:cNvPr id="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gress rail fill"/>
          <p:cNvSpPr/>
          <p:nvPr/>
        </p:nvSpPr>
        <p:spPr>
          <a:xfrm>
            <a:off x="6540500" y="635000"/>
            <a:ext cx="38100" cy="840153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dot glow 2.1x"/>
          <p:cNvSpPr/>
          <p:nvPr/>
        </p:nvSpPr>
        <p:spPr>
          <a:xfrm>
            <a:off x="6456426" y="8933414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dot glow 1.55x"/>
          <p:cNvSpPr/>
          <p:nvPr/>
        </p:nvSpPr>
        <p:spPr>
          <a:xfrm>
            <a:off x="6483434" y="8960423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dot"/>
          <p:cNvSpPr/>
          <p:nvPr/>
        </p:nvSpPr>
        <p:spPr>
          <a:xfrm>
            <a:off x="6510443" y="8987431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ge number"/>
          <p:cNvSpPr txBox="1"/>
          <p:nvPr/>
        </p:nvSpPr>
        <p:spPr>
          <a:xfrm>
            <a:off x="5566833" y="8874613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6B8279"/>
                </a:solidFill>
                <a:latin typeface="Arial"/>
              </a:rPr>
              <a:t>10</a:t>
            </a:r>
          </a:p>
        </p:txBody>
      </p:sp>
      <p:sp>
        <p:nvSpPr>
          <p:cNvPr id="12" name="Headline"/>
          <p:cNvSpPr txBox="1"/>
          <p:nvPr/>
        </p:nvSpPr>
        <p:spPr>
          <a:xfrm>
            <a:off x="508000" y="1321138"/>
            <a:ext cx="5926666" cy="398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06251C"/>
                </a:solidFill>
                <a:latin typeface="Arial Black"/>
              </a:rPr>
              <a:t>First high-</a:t>
            </a:r>
          </a:p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06251C"/>
                </a:solidFill>
                <a:latin typeface="Arial Black"/>
              </a:rPr>
              <a:t>capacity hibrid</a:t>
            </a:r>
          </a:p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06251C"/>
                </a:solidFill>
                <a:latin typeface="Arial Black"/>
              </a:rPr>
              <a:t>energy system</a:t>
            </a:r>
          </a:p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06251C"/>
                </a:solidFill>
                <a:latin typeface="Arial Black"/>
              </a:rPr>
              <a:t>provider for</a:t>
            </a:r>
          </a:p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06251C"/>
                </a:solidFill>
                <a:latin typeface="Arial Black"/>
              </a:rPr>
              <a:t>luxury villas in</a:t>
            </a:r>
          </a:p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06251C"/>
                </a:solidFill>
                <a:latin typeface="Arial Black"/>
              </a:rPr>
              <a:t>the UAE.</a:t>
            </a:r>
          </a:p>
        </p:txBody>
      </p:sp>
      <p:sp>
        <p:nvSpPr>
          <p:cNvPr id="13" name="Paragraph"/>
          <p:cNvSpPr txBox="1"/>
          <p:nvPr/>
        </p:nvSpPr>
        <p:spPr>
          <a:xfrm>
            <a:off x="508000" y="5417396"/>
            <a:ext cx="5588000" cy="157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900"/>
              </a:lnSpc>
            </a:pPr>
            <a:r>
              <a:rPr sz="2000" b="0">
                <a:solidFill>
                  <a:srgbClr val="06251C"/>
                </a:solidFill>
                <a:latin typeface="Arial"/>
              </a:rPr>
              <a:t>Industrial-grade engineering, applied to private</a:t>
            </a:r>
          </a:p>
          <a:p>
            <a:pPr algn="l">
              <a:lnSpc>
                <a:spcPts val="2900"/>
              </a:lnSpc>
            </a:pPr>
            <a:r>
              <a:rPr sz="2000" b="0">
                <a:solidFill>
                  <a:srgbClr val="06251C"/>
                </a:solidFill>
                <a:latin typeface="Arial"/>
              </a:rPr>
              <a:t>villas. Conventional residential installers can't</a:t>
            </a:r>
          </a:p>
          <a:p>
            <a:pPr algn="l">
              <a:lnSpc>
                <a:spcPts val="2900"/>
              </a:lnSpc>
            </a:pPr>
            <a:r>
              <a:rPr sz="2000" b="0">
                <a:solidFill>
                  <a:srgbClr val="06251C"/>
                </a:solidFill>
                <a:latin typeface="Arial"/>
              </a:rPr>
              <a:t>build systems of this scale — large energy</a:t>
            </a:r>
          </a:p>
          <a:p>
            <a:pPr algn="l">
              <a:lnSpc>
                <a:spcPts val="2900"/>
              </a:lnSpc>
            </a:pPr>
            <a:r>
              <a:rPr sz="2000" b="0">
                <a:solidFill>
                  <a:srgbClr val="06251C"/>
                </a:solidFill>
                <a:latin typeface="Arial"/>
              </a:rPr>
              <a:t>companies won't.</a:t>
            </a:r>
          </a:p>
        </p:txBody>
      </p:sp>
      <p:sp>
        <p:nvSpPr>
          <p:cNvPr id="14" name="Feature card 1"/>
          <p:cNvSpPr/>
          <p:nvPr/>
        </p:nvSpPr>
        <p:spPr>
          <a:xfrm>
            <a:off x="508000" y="9626600"/>
            <a:ext cx="1761066" cy="1926166"/>
          </a:xfrm>
          <a:prstGeom prst="roundRect">
            <a:avLst>
              <a:gd name="adj" fmla="val 11057"/>
            </a:avLst>
          </a:prstGeom>
          <a:solidFill>
            <a:srgbClr val="FFFFFF"/>
          </a:solidFill>
          <a:ln w="12700">
            <a:solidFill>
              <a:srgbClr val="E2EFE7"/>
            </a:solidFill>
          </a:ln>
          <a:effectLst>
            <a:outerShdw blurRad="508000" dist="0" dir="0" rotWithShape="0">
              <a:srgbClr val="00000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con tile 1"/>
          <p:cNvSpPr/>
          <p:nvPr/>
        </p:nvSpPr>
        <p:spPr>
          <a:xfrm>
            <a:off x="747183" y="9865783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con 1 - generation" descr="icon_p10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10058400"/>
            <a:ext cx="338666" cy="338666"/>
          </a:xfrm>
          <a:prstGeom prst="rect">
            <a:avLst/>
          </a:prstGeom>
        </p:spPr>
      </p:pic>
      <p:sp>
        <p:nvSpPr>
          <p:cNvPr id="17" name="Feature label 1"/>
          <p:cNvSpPr txBox="1"/>
          <p:nvPr/>
        </p:nvSpPr>
        <p:spPr>
          <a:xfrm>
            <a:off x="747183" y="10705253"/>
            <a:ext cx="1282700" cy="65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>
                <a:solidFill>
                  <a:srgbClr val="06251C"/>
                </a:solidFill>
                <a:latin typeface="Arial"/>
              </a:rPr>
              <a:t>High-power</a:t>
            </a:r>
          </a:p>
          <a:p>
            <a:pPr algn="l">
              <a:lnSpc>
                <a:spcPts val="2160"/>
              </a:lnSpc>
            </a:pPr>
            <a:r>
              <a:rPr sz="1800" b="1">
                <a:solidFill>
                  <a:srgbClr val="06251C"/>
                </a:solidFill>
                <a:latin typeface="Arial"/>
              </a:rPr>
              <a:t>generation</a:t>
            </a:r>
          </a:p>
        </p:txBody>
      </p:sp>
      <p:sp>
        <p:nvSpPr>
          <p:cNvPr id="18" name="Feature card 2"/>
          <p:cNvSpPr/>
          <p:nvPr/>
        </p:nvSpPr>
        <p:spPr>
          <a:xfrm>
            <a:off x="2421466" y="9626600"/>
            <a:ext cx="1761066" cy="1926166"/>
          </a:xfrm>
          <a:prstGeom prst="roundRect">
            <a:avLst>
              <a:gd name="adj" fmla="val 11057"/>
            </a:avLst>
          </a:prstGeom>
          <a:solidFill>
            <a:srgbClr val="FFFFFF"/>
          </a:solidFill>
          <a:ln w="12700">
            <a:solidFill>
              <a:srgbClr val="E2EFE7"/>
            </a:solidFill>
          </a:ln>
          <a:effectLst>
            <a:outerShdw blurRad="508000" dist="0" dir="0" rotWithShape="0">
              <a:srgbClr val="00000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con tile 2"/>
          <p:cNvSpPr/>
          <p:nvPr/>
        </p:nvSpPr>
        <p:spPr>
          <a:xfrm>
            <a:off x="2660650" y="9865783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Icon 2 - storage" descr="icon_p10_stor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3266" y="10058400"/>
            <a:ext cx="338666" cy="338666"/>
          </a:xfrm>
          <a:prstGeom prst="rect">
            <a:avLst/>
          </a:prstGeom>
        </p:spPr>
      </p:pic>
      <p:sp>
        <p:nvSpPr>
          <p:cNvPr id="21" name="Feature label 2"/>
          <p:cNvSpPr txBox="1"/>
          <p:nvPr/>
        </p:nvSpPr>
        <p:spPr>
          <a:xfrm>
            <a:off x="2660650" y="10705253"/>
            <a:ext cx="1282700" cy="65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>
                <a:solidFill>
                  <a:srgbClr val="06251C"/>
                </a:solidFill>
                <a:latin typeface="Arial"/>
              </a:rPr>
              <a:t>Large-scale</a:t>
            </a:r>
          </a:p>
          <a:p>
            <a:pPr algn="l">
              <a:lnSpc>
                <a:spcPts val="2160"/>
              </a:lnSpc>
            </a:pPr>
            <a:r>
              <a:rPr sz="1800" b="1">
                <a:solidFill>
                  <a:srgbClr val="06251C"/>
                </a:solidFill>
                <a:latin typeface="Arial"/>
              </a:rPr>
              <a:t>storage</a:t>
            </a:r>
          </a:p>
        </p:txBody>
      </p:sp>
      <p:sp>
        <p:nvSpPr>
          <p:cNvPr id="22" name="Feature card 3"/>
          <p:cNvSpPr/>
          <p:nvPr/>
        </p:nvSpPr>
        <p:spPr>
          <a:xfrm>
            <a:off x="4334933" y="9626600"/>
            <a:ext cx="1761066" cy="1926166"/>
          </a:xfrm>
          <a:prstGeom prst="roundRect">
            <a:avLst>
              <a:gd name="adj" fmla="val 11057"/>
            </a:avLst>
          </a:prstGeom>
          <a:solidFill>
            <a:srgbClr val="FFFFFF"/>
          </a:solidFill>
          <a:ln w="12700">
            <a:solidFill>
              <a:srgbClr val="E2EFE7"/>
            </a:solidFill>
          </a:ln>
          <a:effectLst>
            <a:outerShdw blurRad="508000" dist="0" dir="0" rotWithShape="0">
              <a:srgbClr val="00000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con tile 3"/>
          <p:cNvSpPr/>
          <p:nvPr/>
        </p:nvSpPr>
        <p:spPr>
          <a:xfrm>
            <a:off x="4574116" y="9865783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Icon 3 - control" descr="icon_p10_contr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6733" y="10058400"/>
            <a:ext cx="338666" cy="338666"/>
          </a:xfrm>
          <a:prstGeom prst="rect">
            <a:avLst/>
          </a:prstGeom>
        </p:spPr>
      </p:pic>
      <p:sp>
        <p:nvSpPr>
          <p:cNvPr id="25" name="Feature label 3"/>
          <p:cNvSpPr txBox="1"/>
          <p:nvPr/>
        </p:nvSpPr>
        <p:spPr>
          <a:xfrm>
            <a:off x="4574116" y="10705253"/>
            <a:ext cx="1282700" cy="65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>
                <a:solidFill>
                  <a:srgbClr val="06251C"/>
                </a:solidFill>
                <a:latin typeface="Arial"/>
              </a:rPr>
              <a:t>Smart load</a:t>
            </a:r>
          </a:p>
          <a:p>
            <a:pPr algn="l">
              <a:lnSpc>
                <a:spcPts val="2160"/>
              </a:lnSpc>
            </a:pPr>
            <a:r>
              <a:rPr sz="1800" b="1">
                <a:solidFill>
                  <a:srgbClr val="06251C"/>
                </a:solidFill>
                <a:latin typeface="Arial"/>
              </a:rPr>
              <a:t>control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 panel"/>
          <p:cNvSpPr/>
          <p:nvPr/>
        </p:nvSpPr>
        <p:spPr>
          <a:xfrm>
            <a:off x="508000" y="635000"/>
            <a:ext cx="609600" cy="381000"/>
          </a:xfrm>
          <a:prstGeom prst="roundRect">
            <a:avLst>
              <a:gd name="adj" fmla="val 114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Almuhib Solar Energy logo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609600" cy="38100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1320800" y="658918"/>
            <a:ext cx="55372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DELIVERED SYSTEMS</a:t>
            </a:r>
          </a:p>
        </p:txBody>
      </p:sp>
      <p:sp>
        <p:nvSpPr>
          <p:cNvPr id="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gress rail fill"/>
          <p:cNvSpPr/>
          <p:nvPr/>
        </p:nvSpPr>
        <p:spPr>
          <a:xfrm>
            <a:off x="6540500" y="635000"/>
            <a:ext cx="38100" cy="924169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dot glow 2.1x"/>
          <p:cNvSpPr/>
          <p:nvPr/>
        </p:nvSpPr>
        <p:spPr>
          <a:xfrm>
            <a:off x="6456426" y="9773568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dot glow 1.55x"/>
          <p:cNvSpPr/>
          <p:nvPr/>
        </p:nvSpPr>
        <p:spPr>
          <a:xfrm>
            <a:off x="6483434" y="9800576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dot"/>
          <p:cNvSpPr/>
          <p:nvPr/>
        </p:nvSpPr>
        <p:spPr>
          <a:xfrm>
            <a:off x="6510443" y="9827585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ge number"/>
          <p:cNvSpPr txBox="1"/>
          <p:nvPr/>
        </p:nvSpPr>
        <p:spPr>
          <a:xfrm>
            <a:off x="5566833" y="9714767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6B8279"/>
                </a:solidFill>
                <a:latin typeface="Arial"/>
              </a:rPr>
              <a:t>11</a:t>
            </a:r>
          </a:p>
        </p:txBody>
      </p:sp>
      <p:sp>
        <p:nvSpPr>
          <p:cNvPr id="12" name="Case card 1"/>
          <p:cNvSpPr/>
          <p:nvPr/>
        </p:nvSpPr>
        <p:spPr>
          <a:xfrm>
            <a:off x="514350" y="1327150"/>
            <a:ext cx="5579533" cy="3115733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FE7"/>
            </a:solidFill>
          </a:ln>
          <a:effectLst>
            <a:outerShdw blurRad="508000" dist="0" dir="0" rotWithShape="0">
              <a:srgbClr val="00000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MG-12 frame"/>
          <p:cNvSpPr/>
          <p:nvPr/>
        </p:nvSpPr>
        <p:spPr>
          <a:xfrm>
            <a:off x="749300" y="1562100"/>
            <a:ext cx="1143000" cy="1524000"/>
          </a:xfrm>
          <a:prstGeom prst="roundRect">
            <a:avLst>
              <a:gd name="adj" fmla="val 1555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MG-12 glyph" descr="icon_image_s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125" y="2121958"/>
            <a:ext cx="133350" cy="133350"/>
          </a:xfrm>
          <a:prstGeom prst="rect">
            <a:avLst/>
          </a:prstGeom>
        </p:spPr>
      </p:pic>
      <p:sp>
        <p:nvSpPr>
          <p:cNvPr id="15" name="IMG-12 label"/>
          <p:cNvSpPr txBox="1"/>
          <p:nvPr/>
        </p:nvSpPr>
        <p:spPr>
          <a:xfrm>
            <a:off x="749300" y="2259806"/>
            <a:ext cx="1143000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IMG-12</a:t>
            </a:r>
          </a:p>
        </p:txBody>
      </p:sp>
      <p:sp>
        <p:nvSpPr>
          <p:cNvPr id="16" name="IMG-12 link"/>
          <p:cNvSpPr txBox="1"/>
          <p:nvPr/>
        </p:nvSpPr>
        <p:spPr>
          <a:xfrm>
            <a:off x="749300" y="2404057"/>
            <a:ext cx="1143000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17" name="Case 1 title"/>
          <p:cNvSpPr txBox="1"/>
          <p:nvPr/>
        </p:nvSpPr>
        <p:spPr>
          <a:xfrm>
            <a:off x="2094653" y="1518581"/>
            <a:ext cx="3764279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2000" b="0" spc="50">
                <a:solidFill>
                  <a:srgbClr val="06251C"/>
                </a:solidFill>
                <a:latin typeface="Arial Black"/>
              </a:rPr>
              <a:t>OFF-GRID FARM</a:t>
            </a:r>
          </a:p>
        </p:txBody>
      </p:sp>
      <p:sp>
        <p:nvSpPr>
          <p:cNvPr id="18" name="Case 1 subtitle"/>
          <p:cNvSpPr txBox="1"/>
          <p:nvPr/>
        </p:nvSpPr>
        <p:spPr>
          <a:xfrm>
            <a:off x="2094653" y="1845326"/>
            <a:ext cx="3764279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Customer Energy System: Remote Farm / Off-</a:t>
            </a:r>
          </a:p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Grid Solar System</a:t>
            </a:r>
          </a:p>
        </p:txBody>
      </p:sp>
      <p:sp>
        <p:nvSpPr>
          <p:cNvPr id="19" name="Case 1 label 1"/>
          <p:cNvSpPr txBox="1"/>
          <p:nvPr/>
        </p:nvSpPr>
        <p:spPr>
          <a:xfrm>
            <a:off x="2094653" y="2366026"/>
            <a:ext cx="376427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System</a:t>
            </a:r>
          </a:p>
        </p:txBody>
      </p:sp>
      <p:sp>
        <p:nvSpPr>
          <p:cNvPr id="20" name="Case 1 value 1"/>
          <p:cNvSpPr txBox="1"/>
          <p:nvPr/>
        </p:nvSpPr>
        <p:spPr>
          <a:xfrm>
            <a:off x="2094653" y="2351210"/>
            <a:ext cx="3764279" cy="338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866"/>
              </a:lnSpc>
            </a:pPr>
            <a:r>
              <a:rPr sz="1400" b="1">
                <a:solidFill>
                  <a:srgbClr val="06251C"/>
                </a:solidFill>
                <a:latin typeface="Arial"/>
              </a:rPr>
              <a:t>38 panels, 50 kW inverter</a:t>
            </a:r>
          </a:p>
        </p:txBody>
      </p:sp>
      <p:sp>
        <p:nvSpPr>
          <p:cNvPr id="21" name="Case 1 rule 2"/>
          <p:cNvSpPr/>
          <p:nvPr/>
        </p:nvSpPr>
        <p:spPr>
          <a:xfrm>
            <a:off x="2094653" y="2730500"/>
            <a:ext cx="3764279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se 1 label 2"/>
          <p:cNvSpPr txBox="1"/>
          <p:nvPr/>
        </p:nvSpPr>
        <p:spPr>
          <a:xfrm>
            <a:off x="2094653" y="2747026"/>
            <a:ext cx="376427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Storage</a:t>
            </a:r>
          </a:p>
        </p:txBody>
      </p:sp>
      <p:sp>
        <p:nvSpPr>
          <p:cNvPr id="23" name="Case 1 value 2"/>
          <p:cNvSpPr txBox="1"/>
          <p:nvPr/>
        </p:nvSpPr>
        <p:spPr>
          <a:xfrm>
            <a:off x="2094653" y="2732210"/>
            <a:ext cx="3764279" cy="338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866"/>
              </a:lnSpc>
            </a:pPr>
            <a:r>
              <a:rPr sz="1400" b="1">
                <a:solidFill>
                  <a:srgbClr val="06251C"/>
                </a:solidFill>
                <a:latin typeface="Arial"/>
              </a:rPr>
              <a:t>70 kWh</a:t>
            </a:r>
          </a:p>
        </p:txBody>
      </p:sp>
      <p:sp>
        <p:nvSpPr>
          <p:cNvPr id="24" name="Case 1 rule 3"/>
          <p:cNvSpPr/>
          <p:nvPr/>
        </p:nvSpPr>
        <p:spPr>
          <a:xfrm>
            <a:off x="2094653" y="3109383"/>
            <a:ext cx="3764279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ase 1 label 3"/>
          <p:cNvSpPr txBox="1"/>
          <p:nvPr/>
        </p:nvSpPr>
        <p:spPr>
          <a:xfrm>
            <a:off x="2094653" y="3128026"/>
            <a:ext cx="3764279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Bill before →</a:t>
            </a:r>
          </a:p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after</a:t>
            </a:r>
          </a:p>
        </p:txBody>
      </p:sp>
      <p:sp>
        <p:nvSpPr>
          <p:cNvPr id="26" name="Case 1 value 3"/>
          <p:cNvSpPr txBox="1"/>
          <p:nvPr/>
        </p:nvSpPr>
        <p:spPr>
          <a:xfrm>
            <a:off x="2094653" y="3113210"/>
            <a:ext cx="3764279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866"/>
              </a:lnSpc>
            </a:pPr>
            <a:r>
              <a:rPr sz="1400" b="1">
                <a:solidFill>
                  <a:srgbClr val="06251C"/>
                </a:solidFill>
                <a:latin typeface="Arial"/>
              </a:rPr>
              <a:t>100% generator power → 0</a:t>
            </a:r>
          </a:p>
          <a:p>
            <a:pPr algn="r">
              <a:lnSpc>
                <a:spcPts val="1866"/>
              </a:lnSpc>
            </a:pPr>
            <a:r>
              <a:rPr sz="1400" b="1">
                <a:solidFill>
                  <a:srgbClr val="06251C"/>
                </a:solidFill>
                <a:latin typeface="Arial"/>
              </a:rPr>
              <a:t>AED/day</a:t>
            </a:r>
          </a:p>
        </p:txBody>
      </p:sp>
      <p:sp>
        <p:nvSpPr>
          <p:cNvPr id="27" name="Case 1 rule 4"/>
          <p:cNvSpPr/>
          <p:nvPr/>
        </p:nvSpPr>
        <p:spPr>
          <a:xfrm>
            <a:off x="2094653" y="3725333"/>
            <a:ext cx="3764279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ase 1 label 4"/>
          <p:cNvSpPr txBox="1"/>
          <p:nvPr/>
        </p:nvSpPr>
        <p:spPr>
          <a:xfrm>
            <a:off x="2094653" y="3743976"/>
            <a:ext cx="3764279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Backup</a:t>
            </a:r>
          </a:p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autonomy</a:t>
            </a:r>
          </a:p>
        </p:txBody>
      </p:sp>
      <p:sp>
        <p:nvSpPr>
          <p:cNvPr id="29" name="Case 1 value 4"/>
          <p:cNvSpPr txBox="1"/>
          <p:nvPr/>
        </p:nvSpPr>
        <p:spPr>
          <a:xfrm>
            <a:off x="2094653" y="3729160"/>
            <a:ext cx="3764279" cy="338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866"/>
              </a:lnSpc>
            </a:pPr>
            <a:r>
              <a:rPr sz="1400" b="1">
                <a:solidFill>
                  <a:srgbClr val="06251C"/>
                </a:solidFill>
                <a:latin typeface="Arial"/>
              </a:rPr>
              <a:t>Full overnight autonomy</a:t>
            </a:r>
          </a:p>
        </p:txBody>
      </p:sp>
      <p:sp>
        <p:nvSpPr>
          <p:cNvPr id="30" name="Case card 2"/>
          <p:cNvSpPr/>
          <p:nvPr/>
        </p:nvSpPr>
        <p:spPr>
          <a:xfrm>
            <a:off x="514350" y="4764616"/>
            <a:ext cx="5579533" cy="3725333"/>
          </a:xfrm>
          <a:prstGeom prst="roundRect">
            <a:avLst>
              <a:gd name="adj" fmla="val 5227"/>
            </a:avLst>
          </a:prstGeom>
          <a:solidFill>
            <a:srgbClr val="FFFFFF"/>
          </a:solidFill>
          <a:ln w="12700">
            <a:solidFill>
              <a:srgbClr val="E2EFE7"/>
            </a:solidFill>
          </a:ln>
          <a:effectLst>
            <a:outerShdw blurRad="508000" dist="0" dir="0" rotWithShape="0">
              <a:srgbClr val="00000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MG-13 frame"/>
          <p:cNvSpPr/>
          <p:nvPr/>
        </p:nvSpPr>
        <p:spPr>
          <a:xfrm>
            <a:off x="749300" y="4999566"/>
            <a:ext cx="1143000" cy="1524000"/>
          </a:xfrm>
          <a:prstGeom prst="roundRect">
            <a:avLst>
              <a:gd name="adj" fmla="val 1555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IMG-13 glyph" descr="icon_image_s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125" y="5559425"/>
            <a:ext cx="133350" cy="133350"/>
          </a:xfrm>
          <a:prstGeom prst="rect">
            <a:avLst/>
          </a:prstGeom>
        </p:spPr>
      </p:pic>
      <p:sp>
        <p:nvSpPr>
          <p:cNvPr id="33" name="IMG-13 label"/>
          <p:cNvSpPr txBox="1"/>
          <p:nvPr/>
        </p:nvSpPr>
        <p:spPr>
          <a:xfrm>
            <a:off x="749300" y="5697272"/>
            <a:ext cx="1143000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IMG-13</a:t>
            </a:r>
          </a:p>
        </p:txBody>
      </p:sp>
      <p:sp>
        <p:nvSpPr>
          <p:cNvPr id="34" name="IMG-13 link"/>
          <p:cNvSpPr txBox="1"/>
          <p:nvPr/>
        </p:nvSpPr>
        <p:spPr>
          <a:xfrm>
            <a:off x="749300" y="5841523"/>
            <a:ext cx="1143000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35" name="Case 2 title"/>
          <p:cNvSpPr txBox="1"/>
          <p:nvPr/>
        </p:nvSpPr>
        <p:spPr>
          <a:xfrm>
            <a:off x="2094653" y="4953931"/>
            <a:ext cx="376427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2000" b="0" spc="50">
                <a:solidFill>
                  <a:srgbClr val="06251C"/>
                </a:solidFill>
                <a:latin typeface="Arial Black"/>
              </a:rPr>
              <a:t>HYBRID SYSTEM FOR</a:t>
            </a:r>
          </a:p>
          <a:p>
            <a:pPr algn="l">
              <a:lnSpc>
                <a:spcPts val="2300"/>
              </a:lnSpc>
            </a:pPr>
            <a:r>
              <a:rPr sz="2000" b="0" spc="50">
                <a:solidFill>
                  <a:srgbClr val="06251C"/>
                </a:solidFill>
                <a:latin typeface="Arial Black"/>
              </a:rPr>
              <a:t>VILLA</a:t>
            </a:r>
          </a:p>
        </p:txBody>
      </p:sp>
      <p:sp>
        <p:nvSpPr>
          <p:cNvPr id="36" name="Case 2 subtitle"/>
          <p:cNvSpPr txBox="1"/>
          <p:nvPr/>
        </p:nvSpPr>
        <p:spPr>
          <a:xfrm>
            <a:off x="2094653" y="5572776"/>
            <a:ext cx="3764279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Customer Energy System: 5-Bedroom Villa on</a:t>
            </a:r>
          </a:p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Jubail Island</a:t>
            </a:r>
          </a:p>
        </p:txBody>
      </p:sp>
      <p:sp>
        <p:nvSpPr>
          <p:cNvPr id="37" name="Case 2 label 1"/>
          <p:cNvSpPr txBox="1"/>
          <p:nvPr/>
        </p:nvSpPr>
        <p:spPr>
          <a:xfrm>
            <a:off x="2094653" y="6093476"/>
            <a:ext cx="376427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System</a:t>
            </a:r>
          </a:p>
        </p:txBody>
      </p:sp>
      <p:sp>
        <p:nvSpPr>
          <p:cNvPr id="38" name="Case 2 value 1"/>
          <p:cNvSpPr txBox="1"/>
          <p:nvPr/>
        </p:nvSpPr>
        <p:spPr>
          <a:xfrm>
            <a:off x="2094653" y="6078660"/>
            <a:ext cx="3764279" cy="338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866"/>
              </a:lnSpc>
            </a:pPr>
            <a:r>
              <a:rPr sz="1400" b="1">
                <a:solidFill>
                  <a:srgbClr val="06251C"/>
                </a:solidFill>
                <a:latin typeface="Arial"/>
              </a:rPr>
              <a:t>38 panels, 50 kW inverter</a:t>
            </a:r>
          </a:p>
        </p:txBody>
      </p:sp>
      <p:sp>
        <p:nvSpPr>
          <p:cNvPr id="39" name="Case 2 rule 2"/>
          <p:cNvSpPr/>
          <p:nvPr/>
        </p:nvSpPr>
        <p:spPr>
          <a:xfrm>
            <a:off x="2094653" y="6457950"/>
            <a:ext cx="3764279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se 2 label 2"/>
          <p:cNvSpPr txBox="1"/>
          <p:nvPr/>
        </p:nvSpPr>
        <p:spPr>
          <a:xfrm>
            <a:off x="2094653" y="6476593"/>
            <a:ext cx="376427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Storage</a:t>
            </a:r>
          </a:p>
        </p:txBody>
      </p:sp>
      <p:sp>
        <p:nvSpPr>
          <p:cNvPr id="41" name="Case 2 value 2"/>
          <p:cNvSpPr txBox="1"/>
          <p:nvPr/>
        </p:nvSpPr>
        <p:spPr>
          <a:xfrm>
            <a:off x="2094653" y="6461776"/>
            <a:ext cx="3764279" cy="338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866"/>
              </a:lnSpc>
            </a:pPr>
            <a:r>
              <a:rPr sz="1400" b="1">
                <a:solidFill>
                  <a:srgbClr val="06251C"/>
                </a:solidFill>
                <a:latin typeface="Arial"/>
              </a:rPr>
              <a:t>121 kWh</a:t>
            </a:r>
          </a:p>
        </p:txBody>
      </p:sp>
      <p:sp>
        <p:nvSpPr>
          <p:cNvPr id="42" name="Case 2 rule 3"/>
          <p:cNvSpPr/>
          <p:nvPr/>
        </p:nvSpPr>
        <p:spPr>
          <a:xfrm>
            <a:off x="2094653" y="6838950"/>
            <a:ext cx="3764279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se 2 label 3"/>
          <p:cNvSpPr txBox="1"/>
          <p:nvPr/>
        </p:nvSpPr>
        <p:spPr>
          <a:xfrm>
            <a:off x="2094653" y="6855476"/>
            <a:ext cx="3764279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Bill before →</a:t>
            </a:r>
          </a:p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after</a:t>
            </a:r>
          </a:p>
        </p:txBody>
      </p:sp>
      <p:sp>
        <p:nvSpPr>
          <p:cNvPr id="44" name="Case 2 value 3"/>
          <p:cNvSpPr txBox="1"/>
          <p:nvPr/>
        </p:nvSpPr>
        <p:spPr>
          <a:xfrm>
            <a:off x="2094653" y="6840660"/>
            <a:ext cx="3764279" cy="81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866"/>
              </a:lnSpc>
            </a:pPr>
            <a:r>
              <a:rPr sz="1400" b="1">
                <a:solidFill>
                  <a:srgbClr val="06251C"/>
                </a:solidFill>
                <a:latin typeface="Arial"/>
              </a:rPr>
              <a:t>3,000 AED/mo → 1,500</a:t>
            </a:r>
          </a:p>
          <a:p>
            <a:pPr algn="r">
              <a:lnSpc>
                <a:spcPts val="1866"/>
              </a:lnSpc>
            </a:pPr>
            <a:r>
              <a:rPr sz="1400" b="1">
                <a:solidFill>
                  <a:srgbClr val="06251C"/>
                </a:solidFill>
                <a:latin typeface="Arial"/>
              </a:rPr>
              <a:t>AED (18,000 AED/yr</a:t>
            </a:r>
          </a:p>
          <a:p>
            <a:pPr algn="r">
              <a:lnSpc>
                <a:spcPts val="1866"/>
              </a:lnSpc>
            </a:pPr>
            <a:r>
              <a:rPr sz="1400" b="1">
                <a:solidFill>
                  <a:srgbClr val="06251C"/>
                </a:solidFill>
                <a:latin typeface="Arial"/>
              </a:rPr>
              <a:t>savings)</a:t>
            </a:r>
          </a:p>
        </p:txBody>
      </p:sp>
      <p:sp>
        <p:nvSpPr>
          <p:cNvPr id="45" name="Case 2 rule 4"/>
          <p:cNvSpPr/>
          <p:nvPr/>
        </p:nvSpPr>
        <p:spPr>
          <a:xfrm>
            <a:off x="2094653" y="7696200"/>
            <a:ext cx="3764279" cy="12700"/>
          </a:xfrm>
          <a:prstGeom prst="rect">
            <a:avLst/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ase 2 label 4"/>
          <p:cNvSpPr txBox="1"/>
          <p:nvPr/>
        </p:nvSpPr>
        <p:spPr>
          <a:xfrm>
            <a:off x="2094653" y="7712726"/>
            <a:ext cx="3764279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Backup</a:t>
            </a:r>
          </a:p>
          <a:p>
            <a:pPr algn="l">
              <a:lnSpc>
                <a:spcPts val="160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autonomy</a:t>
            </a:r>
          </a:p>
        </p:txBody>
      </p:sp>
      <p:sp>
        <p:nvSpPr>
          <p:cNvPr id="47" name="Case 2 value 4"/>
          <p:cNvSpPr txBox="1"/>
          <p:nvPr/>
        </p:nvSpPr>
        <p:spPr>
          <a:xfrm>
            <a:off x="2094653" y="7697910"/>
            <a:ext cx="3764279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866"/>
              </a:lnSpc>
            </a:pPr>
            <a:r>
              <a:rPr sz="1400" b="1">
                <a:solidFill>
                  <a:srgbClr val="06251C"/>
                </a:solidFill>
                <a:latin typeface="Arial"/>
              </a:rPr>
              <a:t>Seamless full-home</a:t>
            </a:r>
          </a:p>
          <a:p>
            <a:pPr algn="r">
              <a:lnSpc>
                <a:spcPts val="1866"/>
              </a:lnSpc>
            </a:pPr>
            <a:r>
              <a:rPr sz="1400" b="1">
                <a:solidFill>
                  <a:srgbClr val="06251C"/>
                </a:solidFill>
                <a:latin typeface="Arial"/>
              </a:rPr>
              <a:t>backup during outages</a:t>
            </a:r>
          </a:p>
        </p:txBody>
      </p:sp>
      <p:sp>
        <p:nvSpPr>
          <p:cNvPr id="48" name="Section heading"/>
          <p:cNvSpPr txBox="1"/>
          <p:nvPr/>
        </p:nvSpPr>
        <p:spPr>
          <a:xfrm>
            <a:off x="508000" y="9135935"/>
            <a:ext cx="5588000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spc="-27">
                <a:solidFill>
                  <a:srgbClr val="06251C"/>
                </a:solidFill>
                <a:latin typeface="Arial"/>
              </a:rPr>
              <a:t>What your system gives back</a:t>
            </a:r>
          </a:p>
        </p:txBody>
      </p:sp>
      <p:sp>
        <p:nvSpPr>
          <p:cNvPr id="49" name="Gauge 1 arc"/>
          <p:cNvSpPr/>
          <p:nvPr/>
        </p:nvSpPr>
        <p:spPr>
          <a:xfrm>
            <a:off x="653626" y="9981692"/>
            <a:ext cx="990600" cy="990600"/>
          </a:xfrm>
          <a:prstGeom prst="arc">
            <a:avLst>
              <a:gd name="adj1" fmla="val 10800000"/>
              <a:gd name="adj2" fmla="val 0"/>
            </a:avLst>
          </a:prstGeom>
          <a:noFill/>
          <a:ln w="101600" cap="rnd">
            <a:gradFill>
              <a:gsLst>
                <a:gs pos="0">
                  <a:srgbClr val="C6F6D7"/>
                </a:gs>
                <a:gs pos="100000">
                  <a:srgbClr val="42D97E"/>
                </a:gs>
              </a:gsLst>
              <a:lin ang="6987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auge 1 value"/>
          <p:cNvSpPr txBox="1"/>
          <p:nvPr/>
        </p:nvSpPr>
        <p:spPr>
          <a:xfrm>
            <a:off x="702564" y="10103992"/>
            <a:ext cx="1693333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spc="-60">
                <a:solidFill>
                  <a:srgbClr val="0B5F45"/>
                </a:solidFill>
                <a:latin typeface="Arial Black"/>
              </a:rPr>
              <a:t>41,235</a:t>
            </a:r>
          </a:p>
        </p:txBody>
      </p:sp>
      <p:sp>
        <p:nvSpPr>
          <p:cNvPr id="51" name="Gauge 1 caption"/>
          <p:cNvSpPr txBox="1"/>
          <p:nvPr/>
        </p:nvSpPr>
        <p:spPr>
          <a:xfrm>
            <a:off x="217593" y="10525717"/>
            <a:ext cx="18626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kWh of clean</a:t>
            </a:r>
          </a:p>
          <a:p>
            <a:pPr algn="ctr">
              <a:lnSpc>
                <a:spcPts val="185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electricity</a:t>
            </a:r>
          </a:p>
        </p:txBody>
      </p:sp>
      <p:sp>
        <p:nvSpPr>
          <p:cNvPr id="52" name="Gauge 2 arc"/>
          <p:cNvSpPr/>
          <p:nvPr/>
        </p:nvSpPr>
        <p:spPr>
          <a:xfrm>
            <a:off x="2088726" y="9981692"/>
            <a:ext cx="990600" cy="990600"/>
          </a:xfrm>
          <a:prstGeom prst="arc">
            <a:avLst>
              <a:gd name="adj1" fmla="val 10800000"/>
              <a:gd name="adj2" fmla="val 0"/>
            </a:avLst>
          </a:prstGeom>
          <a:noFill/>
          <a:ln w="101600" cap="rnd">
            <a:gradFill>
              <a:gsLst>
                <a:gs pos="0">
                  <a:srgbClr val="C6F6D7"/>
                </a:gs>
                <a:gs pos="100000">
                  <a:srgbClr val="42D97E"/>
                </a:gs>
              </a:gsLst>
              <a:lin ang="6987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auge 2 value"/>
          <p:cNvSpPr txBox="1"/>
          <p:nvPr/>
        </p:nvSpPr>
        <p:spPr>
          <a:xfrm>
            <a:off x="2137664" y="10103992"/>
            <a:ext cx="1693333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spc="-60">
                <a:solidFill>
                  <a:srgbClr val="0B5F45"/>
                </a:solidFill>
                <a:latin typeface="Arial Black"/>
              </a:rPr>
              <a:t>28,000</a:t>
            </a:r>
          </a:p>
        </p:txBody>
      </p:sp>
      <p:sp>
        <p:nvSpPr>
          <p:cNvPr id="54" name="Gauge 2 caption"/>
          <p:cNvSpPr txBox="1"/>
          <p:nvPr/>
        </p:nvSpPr>
        <p:spPr>
          <a:xfrm>
            <a:off x="1652693" y="10525717"/>
            <a:ext cx="18626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kg of CO</a:t>
            </a:r>
            <a:r>
              <a:rPr sz="1400" b="0">
                <a:solidFill>
                  <a:srgbClr val="6B8279"/>
                </a:solidFill>
                <a:latin typeface="Times New Roman"/>
              </a:rPr>
              <a:t>₂</a:t>
            </a:r>
          </a:p>
          <a:p>
            <a:pPr algn="ctr">
              <a:lnSpc>
                <a:spcPts val="185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avoided</a:t>
            </a:r>
          </a:p>
        </p:txBody>
      </p:sp>
      <p:sp>
        <p:nvSpPr>
          <p:cNvPr id="55" name="Gauge 3 arc"/>
          <p:cNvSpPr/>
          <p:nvPr/>
        </p:nvSpPr>
        <p:spPr>
          <a:xfrm>
            <a:off x="3523826" y="9981692"/>
            <a:ext cx="990600" cy="990600"/>
          </a:xfrm>
          <a:prstGeom prst="arc">
            <a:avLst>
              <a:gd name="adj1" fmla="val 10800000"/>
              <a:gd name="adj2" fmla="val 0"/>
            </a:avLst>
          </a:prstGeom>
          <a:noFill/>
          <a:ln w="101600" cap="rnd">
            <a:gradFill>
              <a:gsLst>
                <a:gs pos="0">
                  <a:srgbClr val="C6F6D7"/>
                </a:gs>
                <a:gs pos="100000">
                  <a:srgbClr val="42D97E"/>
                </a:gs>
              </a:gsLst>
              <a:lin ang="6987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auge 3 value"/>
          <p:cNvSpPr txBox="1"/>
          <p:nvPr/>
        </p:nvSpPr>
        <p:spPr>
          <a:xfrm>
            <a:off x="3572764" y="10103992"/>
            <a:ext cx="1693333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spc="-60">
                <a:solidFill>
                  <a:srgbClr val="0B5F45"/>
                </a:solidFill>
                <a:latin typeface="Arial Black"/>
              </a:rPr>
              <a:t>10,375</a:t>
            </a:r>
          </a:p>
        </p:txBody>
      </p:sp>
      <p:sp>
        <p:nvSpPr>
          <p:cNvPr id="57" name="Gauge 3 caption"/>
          <p:cNvSpPr txBox="1"/>
          <p:nvPr/>
        </p:nvSpPr>
        <p:spPr>
          <a:xfrm>
            <a:off x="3087793" y="10525717"/>
            <a:ext cx="18626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litres of fuel not</a:t>
            </a:r>
          </a:p>
          <a:p>
            <a:pPr algn="ctr">
              <a:lnSpc>
                <a:spcPts val="185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burned</a:t>
            </a:r>
          </a:p>
        </p:txBody>
      </p:sp>
      <p:sp>
        <p:nvSpPr>
          <p:cNvPr id="58" name="Gauge 4 arc"/>
          <p:cNvSpPr/>
          <p:nvPr/>
        </p:nvSpPr>
        <p:spPr>
          <a:xfrm>
            <a:off x="4958926" y="9981692"/>
            <a:ext cx="990600" cy="990600"/>
          </a:xfrm>
          <a:prstGeom prst="arc">
            <a:avLst>
              <a:gd name="adj1" fmla="val 10800000"/>
              <a:gd name="adj2" fmla="val 0"/>
            </a:avLst>
          </a:prstGeom>
          <a:noFill/>
          <a:ln w="101600" cap="rnd">
            <a:gradFill>
              <a:gsLst>
                <a:gs pos="0">
                  <a:srgbClr val="C6F6D7"/>
                </a:gs>
                <a:gs pos="100000">
                  <a:srgbClr val="42D97E"/>
                </a:gs>
              </a:gsLst>
              <a:lin ang="6987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auge 4 value"/>
          <p:cNvSpPr txBox="1"/>
          <p:nvPr/>
        </p:nvSpPr>
        <p:spPr>
          <a:xfrm>
            <a:off x="5209963" y="10103992"/>
            <a:ext cx="1693333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spc="-60">
                <a:solidFill>
                  <a:srgbClr val="0B5F45"/>
                </a:solidFill>
                <a:latin typeface="Arial Black"/>
              </a:rPr>
              <a:t>717</a:t>
            </a:r>
          </a:p>
        </p:txBody>
      </p:sp>
      <p:sp>
        <p:nvSpPr>
          <p:cNvPr id="60" name="Gauge 4 caption"/>
          <p:cNvSpPr txBox="1"/>
          <p:nvPr/>
        </p:nvSpPr>
        <p:spPr>
          <a:xfrm>
            <a:off x="4522893" y="10525717"/>
            <a:ext cx="18626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trees planted,</a:t>
            </a:r>
          </a:p>
          <a:p>
            <a:pPr algn="ctr">
              <a:lnSpc>
                <a:spcPts val="1850"/>
              </a:lnSpc>
            </a:pPr>
            <a:r>
              <a:rPr sz="1400" b="0">
                <a:solidFill>
                  <a:srgbClr val="6B8279"/>
                </a:solidFill>
                <a:latin typeface="Arial"/>
              </a:rPr>
              <a:t>equivalent</a:t>
            </a:r>
          </a:p>
        </p:txBody>
      </p:sp>
      <p:sp>
        <p:nvSpPr>
          <p:cNvPr id="61" name="Footer accent dash"/>
          <p:cNvSpPr/>
          <p:nvPr/>
        </p:nvSpPr>
        <p:spPr>
          <a:xfrm>
            <a:off x="508000" y="11421533"/>
            <a:ext cx="355600" cy="42333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B5F45"/>
              </a:gs>
              <a:gs pos="100000">
                <a:srgbClr val="6FE39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ooter note"/>
          <p:cNvSpPr txBox="1"/>
          <p:nvPr/>
        </p:nvSpPr>
        <p:spPr>
          <a:xfrm>
            <a:off x="990600" y="11247797"/>
            <a:ext cx="524933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8279"/>
                </a:solidFill>
                <a:latin typeface="Arial"/>
              </a:rPr>
              <a:t>Every year your villa runs on sunlight instead of the grid.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 panel"/>
          <p:cNvSpPr/>
          <p:nvPr/>
        </p:nvSpPr>
        <p:spPr>
          <a:xfrm>
            <a:off x="508000" y="635000"/>
            <a:ext cx="609600" cy="381000"/>
          </a:xfrm>
          <a:prstGeom prst="roundRect">
            <a:avLst>
              <a:gd name="adj" fmla="val 114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Almuhib Solar Energy logo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609600" cy="38100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1320800" y="658918"/>
            <a:ext cx="55372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12A06B"/>
                </a:solidFill>
                <a:latin typeface="Arial"/>
              </a:rPr>
              <a:t>MONITORING</a:t>
            </a:r>
          </a:p>
        </p:txBody>
      </p:sp>
      <p:sp>
        <p:nvSpPr>
          <p:cNvPr id="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gress rail fill"/>
          <p:cNvSpPr/>
          <p:nvPr/>
        </p:nvSpPr>
        <p:spPr>
          <a:xfrm>
            <a:off x="6540500" y="635000"/>
            <a:ext cx="38100" cy="1008184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dot glow 2.1x"/>
          <p:cNvSpPr/>
          <p:nvPr/>
        </p:nvSpPr>
        <p:spPr>
          <a:xfrm>
            <a:off x="6456426" y="10613722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dot glow 1.55x"/>
          <p:cNvSpPr/>
          <p:nvPr/>
        </p:nvSpPr>
        <p:spPr>
          <a:xfrm>
            <a:off x="6483434" y="10640730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dot"/>
          <p:cNvSpPr/>
          <p:nvPr/>
        </p:nvSpPr>
        <p:spPr>
          <a:xfrm>
            <a:off x="6510443" y="10667739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ge number"/>
          <p:cNvSpPr txBox="1"/>
          <p:nvPr/>
        </p:nvSpPr>
        <p:spPr>
          <a:xfrm>
            <a:off x="5566833" y="10554921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6B8279"/>
                </a:solidFill>
                <a:latin typeface="Arial"/>
              </a:rPr>
              <a:t>12</a:t>
            </a:r>
          </a:p>
        </p:txBody>
      </p:sp>
      <p:sp>
        <p:nvSpPr>
          <p:cNvPr id="12" name="Headline"/>
          <p:cNvSpPr txBox="1"/>
          <p:nvPr/>
        </p:nvSpPr>
        <p:spPr>
          <a:xfrm>
            <a:off x="508000" y="1186285"/>
            <a:ext cx="5926666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spc="-24">
                <a:solidFill>
                  <a:srgbClr val="06251C"/>
                </a:solidFill>
                <a:latin typeface="Arial"/>
              </a:rPr>
              <a:t>Your system, in your pocket.</a:t>
            </a:r>
          </a:p>
        </p:txBody>
      </p:sp>
      <p:sp>
        <p:nvSpPr>
          <p:cNvPr id="13" name="Intro paragraph"/>
          <p:cNvSpPr txBox="1"/>
          <p:nvPr/>
        </p:nvSpPr>
        <p:spPr>
          <a:xfrm>
            <a:off x="508000" y="1823296"/>
            <a:ext cx="5249333" cy="120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900"/>
              </a:lnSpc>
            </a:pPr>
            <a:r>
              <a:rPr sz="2000" b="0">
                <a:solidFill>
                  <a:srgbClr val="06251C"/>
                </a:solidFill>
                <a:latin typeface="Arial"/>
              </a:rPr>
              <a:t>Smart control with built-in automation — see</a:t>
            </a:r>
          </a:p>
          <a:p>
            <a:pPr algn="l">
              <a:lnSpc>
                <a:spcPts val="2900"/>
              </a:lnSpc>
            </a:pPr>
            <a:r>
              <a:rPr sz="2000" b="0">
                <a:solidFill>
                  <a:srgbClr val="06251C"/>
                </a:solidFill>
                <a:latin typeface="Arial"/>
              </a:rPr>
              <a:t>generation, consumption and system health</a:t>
            </a:r>
          </a:p>
          <a:p>
            <a:pPr algn="l">
              <a:lnSpc>
                <a:spcPts val="2900"/>
              </a:lnSpc>
            </a:pPr>
            <a:r>
              <a:rPr sz="2000" b="0">
                <a:solidFill>
                  <a:srgbClr val="06251C"/>
                </a:solidFill>
                <a:latin typeface="Arial"/>
              </a:rPr>
              <a:t>from anywhere.</a:t>
            </a:r>
          </a:p>
        </p:txBody>
      </p:sp>
      <p:sp>
        <p:nvSpPr>
          <p:cNvPr id="14" name="Feature row 1 tile"/>
          <p:cNvSpPr/>
          <p:nvPr/>
        </p:nvSpPr>
        <p:spPr>
          <a:xfrm>
            <a:off x="508000" y="327660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Feature row 1 icon" descr="icon_p12_statist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16" y="3469216"/>
            <a:ext cx="338666" cy="338666"/>
          </a:xfrm>
          <a:prstGeom prst="rect">
            <a:avLst/>
          </a:prstGeom>
        </p:spPr>
      </p:pic>
      <p:sp>
        <p:nvSpPr>
          <p:cNvPr id="16" name="Feature row 1 label"/>
          <p:cNvSpPr txBox="1"/>
          <p:nvPr/>
        </p:nvSpPr>
        <p:spPr>
          <a:xfrm>
            <a:off x="1384300" y="3270250"/>
            <a:ext cx="3386666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Energy consumption</a:t>
            </a:r>
          </a:p>
          <a:p>
            <a:pPr algn="l">
              <a:lnSpc>
                <a:spcPts val="2400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statistics</a:t>
            </a:r>
          </a:p>
        </p:txBody>
      </p:sp>
      <p:sp>
        <p:nvSpPr>
          <p:cNvPr id="17" name="Feature row 2 tile"/>
          <p:cNvSpPr/>
          <p:nvPr/>
        </p:nvSpPr>
        <p:spPr>
          <a:xfrm>
            <a:off x="508000" y="415290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Feature row 2 icon" descr="icon_p12_sm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616" y="4345516"/>
            <a:ext cx="338666" cy="338666"/>
          </a:xfrm>
          <a:prstGeom prst="rect">
            <a:avLst/>
          </a:prstGeom>
        </p:spPr>
      </p:pic>
      <p:sp>
        <p:nvSpPr>
          <p:cNvPr id="19" name="Feature row 2 label"/>
          <p:cNvSpPr txBox="1"/>
          <p:nvPr/>
        </p:nvSpPr>
        <p:spPr>
          <a:xfrm>
            <a:off x="1384300" y="4298950"/>
            <a:ext cx="3386666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Smart management</a:t>
            </a:r>
          </a:p>
        </p:txBody>
      </p:sp>
      <p:sp>
        <p:nvSpPr>
          <p:cNvPr id="20" name="Feature row 3 tile"/>
          <p:cNvSpPr/>
          <p:nvPr/>
        </p:nvSpPr>
        <p:spPr>
          <a:xfrm>
            <a:off x="508000" y="502920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Feature row 3 icon" descr="icon_p12_foreca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616" y="5221816"/>
            <a:ext cx="338666" cy="338666"/>
          </a:xfrm>
          <a:prstGeom prst="rect">
            <a:avLst/>
          </a:prstGeom>
        </p:spPr>
      </p:pic>
      <p:sp>
        <p:nvSpPr>
          <p:cNvPr id="22" name="Feature row 3 label"/>
          <p:cNvSpPr txBox="1"/>
          <p:nvPr/>
        </p:nvSpPr>
        <p:spPr>
          <a:xfrm>
            <a:off x="1384300" y="5175250"/>
            <a:ext cx="3386666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Generation forecast</a:t>
            </a:r>
          </a:p>
        </p:txBody>
      </p:sp>
      <p:sp>
        <p:nvSpPr>
          <p:cNvPr id="23" name="Feature row 4 tile"/>
          <p:cNvSpPr/>
          <p:nvPr/>
        </p:nvSpPr>
        <p:spPr>
          <a:xfrm>
            <a:off x="508000" y="5905500"/>
            <a:ext cx="723900" cy="723900"/>
          </a:xfrm>
          <a:prstGeom prst="ellipse">
            <a:avLst/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Feature row 4 icon" descr="icon_p12_monitor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616" y="6098116"/>
            <a:ext cx="338666" cy="338666"/>
          </a:xfrm>
          <a:prstGeom prst="rect">
            <a:avLst/>
          </a:prstGeom>
        </p:spPr>
      </p:pic>
      <p:sp>
        <p:nvSpPr>
          <p:cNvPr id="25" name="Feature row 4 label"/>
          <p:cNvSpPr txBox="1"/>
          <p:nvPr/>
        </p:nvSpPr>
        <p:spPr>
          <a:xfrm>
            <a:off x="1384300" y="5899150"/>
            <a:ext cx="3386666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Live online</a:t>
            </a:r>
          </a:p>
          <a:p>
            <a:pPr algn="l">
              <a:lnSpc>
                <a:spcPts val="2400"/>
              </a:lnSpc>
            </a:pPr>
            <a:r>
              <a:rPr sz="2000" b="1">
                <a:solidFill>
                  <a:srgbClr val="06251C"/>
                </a:solidFill>
                <a:latin typeface="Arial"/>
              </a:rPr>
              <a:t>monitoring</a:t>
            </a:r>
          </a:p>
        </p:txBody>
      </p:sp>
      <p:sp>
        <p:nvSpPr>
          <p:cNvPr id="26" name="IMG-14 frame"/>
          <p:cNvSpPr/>
          <p:nvPr/>
        </p:nvSpPr>
        <p:spPr>
          <a:xfrm>
            <a:off x="4191000" y="3276600"/>
            <a:ext cx="1905000" cy="3333750"/>
          </a:xfrm>
          <a:prstGeom prst="roundRect">
            <a:avLst>
              <a:gd name="adj" fmla="val 9333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IMG-14 glyph" descr="icon_image_sl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76825" y="4741333"/>
            <a:ext cx="133350" cy="133350"/>
          </a:xfrm>
          <a:prstGeom prst="rect">
            <a:avLst/>
          </a:prstGeom>
        </p:spPr>
      </p:pic>
      <p:sp>
        <p:nvSpPr>
          <p:cNvPr id="28" name="IMG-14 label"/>
          <p:cNvSpPr txBox="1"/>
          <p:nvPr/>
        </p:nvSpPr>
        <p:spPr>
          <a:xfrm>
            <a:off x="4191000" y="4879181"/>
            <a:ext cx="1905000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IMG-14</a:t>
            </a:r>
          </a:p>
        </p:txBody>
      </p:sp>
      <p:sp>
        <p:nvSpPr>
          <p:cNvPr id="29" name="IMG-14 link"/>
          <p:cNvSpPr txBox="1"/>
          <p:nvPr/>
        </p:nvSpPr>
        <p:spPr>
          <a:xfrm>
            <a:off x="4191000" y="5023432"/>
            <a:ext cx="1905000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30" name="Download card"/>
          <p:cNvSpPr/>
          <p:nvPr/>
        </p:nvSpPr>
        <p:spPr>
          <a:xfrm>
            <a:off x="508000" y="8204200"/>
            <a:ext cx="5588000" cy="3352800"/>
          </a:xfrm>
          <a:prstGeom prst="roundRect">
            <a:avLst>
              <a:gd name="adj" fmla="val 6060"/>
            </a:avLst>
          </a:prstGeom>
          <a:solidFill>
            <a:srgbClr val="F2F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ard heading"/>
          <p:cNvSpPr txBox="1"/>
          <p:nvPr/>
        </p:nvSpPr>
        <p:spPr>
          <a:xfrm>
            <a:off x="787400" y="8399885"/>
            <a:ext cx="5080000" cy="530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spc="-24">
                <a:solidFill>
                  <a:srgbClr val="06251C"/>
                </a:solidFill>
                <a:latin typeface="Arial"/>
              </a:rPr>
              <a:t>Ready to catch the sun?</a:t>
            </a:r>
          </a:p>
        </p:txBody>
      </p:sp>
      <p:sp>
        <p:nvSpPr>
          <p:cNvPr id="32" name="Card paragraph"/>
          <p:cNvSpPr txBox="1"/>
          <p:nvPr/>
        </p:nvSpPr>
        <p:spPr>
          <a:xfrm>
            <a:off x="787400" y="8892116"/>
            <a:ext cx="5080000" cy="6739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253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Download the app and follow your villa's energy from</a:t>
            </a:r>
          </a:p>
          <a:p>
            <a:pPr algn="l">
              <a:lnSpc>
                <a:spcPts val="2253"/>
              </a:lnSpc>
            </a:pPr>
            <a:r>
              <a:rPr sz="1600" b="0">
                <a:solidFill>
                  <a:srgbClr val="6B8279"/>
                </a:solidFill>
                <a:latin typeface="Arial"/>
              </a:rPr>
              <a:t>day one.</a:t>
            </a:r>
          </a:p>
        </p:txBody>
      </p:sp>
      <p:sp>
        <p:nvSpPr>
          <p:cNvPr id="33" name="App Store QR frame"/>
          <p:cNvSpPr/>
          <p:nvPr/>
        </p:nvSpPr>
        <p:spPr>
          <a:xfrm>
            <a:off x="787400" y="9753600"/>
            <a:ext cx="1143000" cy="1143000"/>
          </a:xfrm>
          <a:prstGeom prst="roundRect">
            <a:avLst>
              <a:gd name="adj" fmla="val 15555"/>
            </a:avLst>
          </a:prstGeom>
          <a:solidFill>
            <a:srgbClr val="E8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App Store QR glyph" descr="icon_image_sl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2225" y="10122958"/>
            <a:ext cx="133350" cy="133350"/>
          </a:xfrm>
          <a:prstGeom prst="rect">
            <a:avLst/>
          </a:prstGeom>
        </p:spPr>
      </p:pic>
      <p:sp>
        <p:nvSpPr>
          <p:cNvPr id="35" name="App Store QR label"/>
          <p:cNvSpPr txBox="1"/>
          <p:nvPr/>
        </p:nvSpPr>
        <p:spPr>
          <a:xfrm>
            <a:off x="787400" y="10260806"/>
            <a:ext cx="1143000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App Store QR</a:t>
            </a:r>
          </a:p>
        </p:txBody>
      </p:sp>
      <p:sp>
        <p:nvSpPr>
          <p:cNvPr id="36" name="App Store QR link"/>
          <p:cNvSpPr txBox="1"/>
          <p:nvPr/>
        </p:nvSpPr>
        <p:spPr>
          <a:xfrm>
            <a:off x="787400" y="10405057"/>
            <a:ext cx="1143000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37" name="App Store button"/>
          <p:cNvSpPr/>
          <p:nvPr/>
        </p:nvSpPr>
        <p:spPr>
          <a:xfrm>
            <a:off x="793750" y="10998200"/>
            <a:ext cx="1130300" cy="279400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pp Store button label"/>
          <p:cNvSpPr txBox="1"/>
          <p:nvPr/>
        </p:nvSpPr>
        <p:spPr>
          <a:xfrm>
            <a:off x="933873" y="10962428"/>
            <a:ext cx="1130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B5F45"/>
                </a:solidFill>
                <a:latin typeface="Arial"/>
              </a:rPr>
              <a:t>App Store</a:t>
            </a:r>
          </a:p>
        </p:txBody>
      </p:sp>
      <p:sp>
        <p:nvSpPr>
          <p:cNvPr id="39" name="Google Play QR frame"/>
          <p:cNvSpPr/>
          <p:nvPr/>
        </p:nvSpPr>
        <p:spPr>
          <a:xfrm>
            <a:off x="2216150" y="9753600"/>
            <a:ext cx="1143000" cy="1143000"/>
          </a:xfrm>
          <a:prstGeom prst="roundRect">
            <a:avLst>
              <a:gd name="adj" fmla="val 15555"/>
            </a:avLst>
          </a:prstGeom>
          <a:solidFill>
            <a:srgbClr val="E8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Google Play QR glyph" descr="icon_image_sl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0975" y="10122958"/>
            <a:ext cx="133350" cy="133350"/>
          </a:xfrm>
          <a:prstGeom prst="rect">
            <a:avLst/>
          </a:prstGeom>
        </p:spPr>
      </p:pic>
      <p:sp>
        <p:nvSpPr>
          <p:cNvPr id="41" name="Google Play QR label"/>
          <p:cNvSpPr txBox="1"/>
          <p:nvPr/>
        </p:nvSpPr>
        <p:spPr>
          <a:xfrm>
            <a:off x="2216150" y="10260806"/>
            <a:ext cx="1143000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Google Play QR</a:t>
            </a:r>
          </a:p>
        </p:txBody>
      </p:sp>
      <p:sp>
        <p:nvSpPr>
          <p:cNvPr id="42" name="Google Play QR link"/>
          <p:cNvSpPr txBox="1"/>
          <p:nvPr/>
        </p:nvSpPr>
        <p:spPr>
          <a:xfrm>
            <a:off x="2216150" y="10405057"/>
            <a:ext cx="1143000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  <p:sp>
        <p:nvSpPr>
          <p:cNvPr id="43" name="Google Play button"/>
          <p:cNvSpPr/>
          <p:nvPr/>
        </p:nvSpPr>
        <p:spPr>
          <a:xfrm>
            <a:off x="2133600" y="10998200"/>
            <a:ext cx="1308100" cy="279400"/>
          </a:xfrm>
          <a:prstGeom prst="roundRect">
            <a:avLst>
              <a:gd name="adj" fmla="val 50000"/>
            </a:avLst>
          </a:prstGeom>
          <a:solidFill>
            <a:srgbClr val="C7F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oogle Play button label"/>
          <p:cNvSpPr txBox="1"/>
          <p:nvPr/>
        </p:nvSpPr>
        <p:spPr>
          <a:xfrm>
            <a:off x="2273300" y="10962428"/>
            <a:ext cx="1308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B5F45"/>
                </a:solidFill>
                <a:latin typeface="Arial"/>
              </a:rPr>
              <a:t>Google Play</a:t>
            </a:r>
          </a:p>
        </p:txBody>
      </p:sp>
      <p:sp>
        <p:nvSpPr>
          <p:cNvPr id="45" name="Deye logo frame"/>
          <p:cNvSpPr/>
          <p:nvPr/>
        </p:nvSpPr>
        <p:spPr>
          <a:xfrm>
            <a:off x="4292600" y="10642600"/>
            <a:ext cx="1524000" cy="635000"/>
          </a:xfrm>
          <a:prstGeom prst="roundRect">
            <a:avLst>
              <a:gd name="adj" fmla="val 20000"/>
            </a:avLst>
          </a:prstGeom>
          <a:solidFill>
            <a:srgbClr val="E8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Deye logo glyph" descr="icon_image_sl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7925" y="10757958"/>
            <a:ext cx="133350" cy="133350"/>
          </a:xfrm>
          <a:prstGeom prst="rect">
            <a:avLst/>
          </a:prstGeom>
        </p:spPr>
      </p:pic>
      <p:sp>
        <p:nvSpPr>
          <p:cNvPr id="47" name="Deye logo label"/>
          <p:cNvSpPr txBox="1"/>
          <p:nvPr/>
        </p:nvSpPr>
        <p:spPr>
          <a:xfrm>
            <a:off x="4292600" y="10895806"/>
            <a:ext cx="1524000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40584F"/>
                </a:solidFill>
                <a:latin typeface="Segoe UI"/>
              </a:rPr>
              <a:t>Deye logo</a:t>
            </a:r>
          </a:p>
        </p:txBody>
      </p:sp>
      <p:sp>
        <p:nvSpPr>
          <p:cNvPr id="48" name="Deye logo link"/>
          <p:cNvSpPr txBox="1"/>
          <p:nvPr/>
        </p:nvSpPr>
        <p:spPr>
          <a:xfrm>
            <a:off x="4292600" y="11040057"/>
            <a:ext cx="1524000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40584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40584F"/>
                </a:solidFill>
                <a:latin typeface="Segoe UI"/>
              </a:rPr>
              <a:t>browse files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06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losing photo frame"/>
          <p:cNvSpPr/>
          <p:nvPr/>
        </p:nvSpPr>
        <p:spPr>
          <a:xfrm>
            <a:off x="0" y="0"/>
            <a:ext cx="6858000" cy="12192000"/>
          </a:xfrm>
          <a:prstGeom prst="roundRect">
            <a:avLst>
              <a:gd name="adj" fmla="val 0"/>
            </a:avLst>
          </a:prstGeom>
          <a:solidFill>
            <a:srgbClr val="082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losing photo glyph" descr="icon_image_slot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325" y="5893858"/>
            <a:ext cx="133350" cy="133350"/>
          </a:xfrm>
          <a:prstGeom prst="rect">
            <a:avLst/>
          </a:prstGeom>
        </p:spPr>
      </p:pic>
      <p:sp>
        <p:nvSpPr>
          <p:cNvPr id="5" name="Closing photo label"/>
          <p:cNvSpPr txBox="1"/>
          <p:nvPr/>
        </p:nvSpPr>
        <p:spPr>
          <a:xfrm>
            <a:off x="0" y="6031706"/>
            <a:ext cx="6858000" cy="204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062A1F"/>
                </a:solidFill>
                <a:latin typeface="Segoe UI"/>
              </a:rPr>
              <a:t>Closing photo — villa at night, lit</a:t>
            </a:r>
          </a:p>
        </p:txBody>
      </p:sp>
      <p:sp>
        <p:nvSpPr>
          <p:cNvPr id="6" name="Closing photo link"/>
          <p:cNvSpPr txBox="1"/>
          <p:nvPr/>
        </p:nvSpPr>
        <p:spPr>
          <a:xfrm>
            <a:off x="0" y="6175957"/>
            <a:ext cx="6858000" cy="18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62A1F"/>
                </a:solidFill>
                <a:latin typeface="Segoe UI"/>
              </a:rPr>
              <a:t>or </a:t>
            </a:r>
            <a:r>
              <a:rPr sz="550" b="0" u="sng">
                <a:solidFill>
                  <a:srgbClr val="062A1F"/>
                </a:solidFill>
                <a:latin typeface="Segoe UI"/>
              </a:rPr>
              <a:t>browse files</a:t>
            </a:r>
          </a:p>
        </p:txBody>
      </p:sp>
      <p:sp>
        <p:nvSpPr>
          <p:cNvPr id="7" name="Logo panel"/>
          <p:cNvSpPr/>
          <p:nvPr/>
        </p:nvSpPr>
        <p:spPr>
          <a:xfrm>
            <a:off x="508000" y="635000"/>
            <a:ext cx="793750" cy="635000"/>
          </a:xfrm>
          <a:prstGeom prst="roundRect">
            <a:avLst>
              <a:gd name="adj" fmla="val 14000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Almuhib Solar Energy logo" descr="logo_a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233" y="635000"/>
            <a:ext cx="787400" cy="635000"/>
          </a:xfrm>
          <a:prstGeom prst="rect">
            <a:avLst/>
          </a:prstGeom>
        </p:spPr>
      </p:pic>
      <p:sp>
        <p:nvSpPr>
          <p:cNvPr id="9" name="Progress rail track"/>
          <p:cNvSpPr/>
          <p:nvPr/>
        </p:nvSpPr>
        <p:spPr>
          <a:xfrm>
            <a:off x="6540500" y="635000"/>
            <a:ext cx="38100" cy="8957733"/>
          </a:xfrm>
          <a:prstGeom prst="roundRect">
            <a:avLst>
              <a:gd name="adj" fmla="val 50000"/>
            </a:avLst>
          </a:prstGeom>
          <a:solidFill>
            <a:srgbClr val="E2EFE7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rail fill"/>
          <p:cNvSpPr/>
          <p:nvPr/>
        </p:nvSpPr>
        <p:spPr>
          <a:xfrm>
            <a:off x="6540500" y="635000"/>
            <a:ext cx="38100" cy="8957733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6251C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ge number"/>
          <p:cNvSpPr txBox="1"/>
          <p:nvPr/>
        </p:nvSpPr>
        <p:spPr>
          <a:xfrm>
            <a:off x="5566833" y="8444018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B5BEBC"/>
                </a:solidFill>
                <a:latin typeface="Arial"/>
              </a:rPr>
              <a:t>13</a:t>
            </a:r>
          </a:p>
        </p:txBody>
      </p:sp>
      <p:sp>
        <p:nvSpPr>
          <p:cNvPr id="12" name="Headline"/>
          <p:cNvSpPr txBox="1"/>
          <p:nvPr/>
        </p:nvSpPr>
        <p:spPr>
          <a:xfrm>
            <a:off x="508000" y="7184813"/>
            <a:ext cx="5418666" cy="2044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FFFFFF"/>
                </a:solidFill>
                <a:latin typeface="Arial Black"/>
              </a:rPr>
              <a:t>YOUR OWN</a:t>
            </a:r>
          </a:p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FFFFFF"/>
                </a:solidFill>
                <a:latin typeface="Arial Black"/>
              </a:rPr>
              <a:t>POWER DAY</a:t>
            </a:r>
          </a:p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FFFFFF"/>
                </a:solidFill>
                <a:latin typeface="Arial Black"/>
              </a:rPr>
              <a:t>AND NIGHT</a:t>
            </a:r>
          </a:p>
        </p:txBody>
      </p:sp>
      <p:sp>
        <p:nvSpPr>
          <p:cNvPr id="13" name="WhatsApp button"/>
          <p:cNvSpPr/>
          <p:nvPr/>
        </p:nvSpPr>
        <p:spPr>
          <a:xfrm>
            <a:off x="508000" y="9584266"/>
            <a:ext cx="6070600" cy="897466"/>
          </a:xfrm>
          <a:prstGeom prst="roundRect">
            <a:avLst>
              <a:gd name="adj" fmla="val 22641"/>
            </a:avLst>
          </a:prstGeom>
          <a:gradFill rotWithShape="1">
            <a:gsLst>
              <a:gs pos="0">
                <a:srgbClr val="0B5F45"/>
              </a:gs>
              <a:gs pos="100000">
                <a:srgbClr val="15B88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WhatsApp button label"/>
          <p:cNvSpPr txBox="1"/>
          <p:nvPr/>
        </p:nvSpPr>
        <p:spPr>
          <a:xfrm>
            <a:off x="508000" y="9805035"/>
            <a:ext cx="6070600" cy="450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spc="-21">
                <a:solidFill>
                  <a:srgbClr val="FFFFFF"/>
                </a:solidFill>
                <a:latin typeface="Arial Black"/>
              </a:rPr>
              <a:t>Message us on WhatsApp</a:t>
            </a:r>
          </a:p>
        </p:txBody>
      </p:sp>
      <p:sp>
        <p:nvSpPr>
          <p:cNvPr id="15" name="Phone number"/>
          <p:cNvSpPr txBox="1"/>
          <p:nvPr/>
        </p:nvSpPr>
        <p:spPr>
          <a:xfrm>
            <a:off x="508000" y="10598996"/>
            <a:ext cx="3386666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+971 58 583 7425</a:t>
            </a:r>
          </a:p>
        </p:txBody>
      </p:sp>
      <p:sp>
        <p:nvSpPr>
          <p:cNvPr id="16" name="Address"/>
          <p:cNvSpPr txBox="1"/>
          <p:nvPr/>
        </p:nvSpPr>
        <p:spPr>
          <a:xfrm>
            <a:off x="508000" y="10963909"/>
            <a:ext cx="5249333" cy="596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46"/>
              </a:lnSpc>
            </a:pPr>
            <a:r>
              <a:rPr sz="1400" b="0" spc="49">
                <a:solidFill>
                  <a:srgbClr val="A9B4B1"/>
                </a:solidFill>
                <a:latin typeface="Arial"/>
              </a:rPr>
              <a:t>OFFICE 101-34, GAL BUSINESS CENTER, DUBAI</a:t>
            </a:r>
          </a:p>
          <a:p>
            <a:pPr algn="l">
              <a:lnSpc>
                <a:spcPts val="1946"/>
              </a:lnSpc>
            </a:pPr>
            <a:r>
              <a:rPr sz="1400" b="0" spc="49">
                <a:solidFill>
                  <a:srgbClr val="A9B4B1"/>
                </a:solidFill>
                <a:latin typeface="Arial"/>
              </a:rPr>
              <a:t>PRODUCTION CITY, DUBAI, UAE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